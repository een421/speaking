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6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90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an Hanley" userId="3b13ddab-d23b-466a-ac17-9c12f22dc521" providerId="ADAL" clId="{7218BFD4-7B28-480D-8079-F0DA89195FA7}"/>
    <pc:docChg chg="modSld">
      <pc:chgData name="Ian Hanley" userId="3b13ddab-d23b-466a-ac17-9c12f22dc521" providerId="ADAL" clId="{7218BFD4-7B28-480D-8079-F0DA89195FA7}" dt="2025-01-28T03:38:44.157" v="45" actId="20577"/>
      <pc:docMkLst>
        <pc:docMk/>
      </pc:docMkLst>
      <pc:sldChg chg="modSp mod">
        <pc:chgData name="Ian Hanley" userId="3b13ddab-d23b-466a-ac17-9c12f22dc521" providerId="ADAL" clId="{7218BFD4-7B28-480D-8079-F0DA89195FA7}" dt="2025-01-28T03:38:44.157" v="45" actId="20577"/>
        <pc:sldMkLst>
          <pc:docMk/>
          <pc:sldMk cId="3238120912" sldId="256"/>
        </pc:sldMkLst>
        <pc:spChg chg="mod">
          <ac:chgData name="Ian Hanley" userId="3b13ddab-d23b-466a-ac17-9c12f22dc521" providerId="ADAL" clId="{7218BFD4-7B28-480D-8079-F0DA89195FA7}" dt="2025-01-28T03:38:44.157" v="45" actId="20577"/>
          <ac:spMkLst>
            <pc:docMk/>
            <pc:sldMk cId="3238120912" sldId="256"/>
            <ac:spMk id="2" creationId="{EDE72D6A-A564-48C5-7851-DC15A33B51C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E676D7-8916-4DBC-A7A4-FEFC3677E60C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09093F-124C-448B-B32B-D0A62723DD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3548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09093F-124C-448B-B32B-D0A62723DD7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5349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A2570-C550-1CFF-2ECA-7E3D0095CC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F6653C-4F3E-1E04-AC66-0F981F5F35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313780-1AE8-F439-C926-CC10531AA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C8F5E-A10A-4B8B-AE33-D81398156D5F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3F0923-0C0A-41F6-4D95-A56CBDDB4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AA445-C246-EB4D-C4B4-1BF27A4FC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F9FFF-29CA-49F0-B77C-75953903E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1201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5F998-751A-5071-F9AB-FFE0443E6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1A115B-BA76-5283-D9E8-EA4180CE7C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BA8C55-5667-1467-A77B-2F241111C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C8F5E-A10A-4B8B-AE33-D81398156D5F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4ACD57-28C2-B333-2022-D795CE31D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04AB03-AEE2-A5C3-ECD6-93F8DD9DB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F9FFF-29CA-49F0-B77C-75953903E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867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2B49C-A96D-9574-39D4-D6F0327AB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3F086A-FE3F-2DE8-8FE4-44FB23FDDB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B81551-DBE8-FBC4-3641-7D00A7606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C8F5E-A10A-4B8B-AE33-D81398156D5F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024598-B6E5-9109-DC3E-6FCA54901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6FACAB-68E4-CF4B-D41B-27EBC7405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F9FFF-29CA-49F0-B77C-75953903E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2341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34547-D529-66CB-73F5-EB6AC5CCA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A270C5-0D2A-58C8-EDFC-44851C8B72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EAFC90-1424-ACB5-D093-1EA0D6F683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0D2786-0270-F6A8-747C-FFFF1B295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C8F5E-A10A-4B8B-AE33-D81398156D5F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961759-4070-19AB-2C8B-C4FF670F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81DE17-53BC-1AFF-2229-D7E28696D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F9FFF-29CA-49F0-B77C-75953903E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5305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9AC34-CCA4-29B4-E737-7F88259B9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BDC01D-8DFE-5DAB-3B64-946479C60E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BADCEA-3453-7D11-9DFE-47D4A2798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FCEE24-C06D-58FF-457A-EC06B3A14B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5A6852-99FB-BACB-9EA1-DC13EFB553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8CA078-1238-2FFB-72E0-6A94C69BC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C8F5E-A10A-4B8B-AE33-D81398156D5F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4C0D43-18BB-F773-0431-166A35F37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D269DA-093E-C69D-3CF4-169A0E080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F9FFF-29CA-49F0-B77C-75953903E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0383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8D780-18EA-D0B4-C171-2FF6DB614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E48D75-7942-DB26-9450-BA856B463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C8F5E-A10A-4B8B-AE33-D81398156D5F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7B6DBE-00E3-FCCA-E4AA-257FB61AE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8B8DDD-C31C-A12D-B856-BC7CB6950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F9FFF-29CA-49F0-B77C-75953903E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329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D30F96-6AF1-DD9A-4544-855D3E669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C8F5E-A10A-4B8B-AE33-D81398156D5F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3CECA1-29CD-BE13-A9AF-C88688E8C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8704B9-34FD-B48F-7B6B-95E1805CA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F9FFF-29CA-49F0-B77C-75953903E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829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660C9-FDCD-EE34-6125-A4AD06DDD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6AC1D8-FCD4-3420-C196-8A3BE73541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E6D446-9E67-7CB6-B9C8-7450DDDF63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C1646D-22FD-C688-68E1-A367912ED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C8F5E-A10A-4B8B-AE33-D81398156D5F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9048CB-12D0-D4CB-3FE9-371A8FD5A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C0B5B6-D257-D339-2F80-B4E8A625F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F9FFF-29CA-49F0-B77C-75953903E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844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04199-3285-7CD6-AC4D-3666D6B50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7E0E82-94A5-15ED-F1CD-7B7688DD5D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79091F-9A3D-3C03-EE5E-EFD4DAFC0D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1FC54E-3FDA-81D0-1E4F-C7E96590D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C8F5E-A10A-4B8B-AE33-D81398156D5F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3B858D-AF93-9501-5686-EA928FFB8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69B5FF-BDA2-F79B-D7E7-AB027569B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F9FFF-29CA-49F0-B77C-75953903E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3934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66A91-BB7C-9E0C-1B21-E2ED3FEE8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CA3228-3AC1-3DA3-205B-DDD1C9FE45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A6587A-03F2-9B7C-B439-B2C0C39E2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C8F5E-A10A-4B8B-AE33-D81398156D5F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BA236F-690B-51D1-F4CF-CD9463721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262E70-FA5E-5DB3-2224-814B58CD4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F9FFF-29CA-49F0-B77C-75953903E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957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787C2C-36AC-9284-4B50-41C5C5324D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0C665C-F77E-D77B-D831-0EB825AF43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4160BB-6A4C-67A5-2AE1-32E8D4D1A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C8F5E-A10A-4B8B-AE33-D81398156D5F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44CD70-680C-23D5-B3FD-4B8225760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427D28-076F-B92A-F72E-7D83F51C3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F9FFF-29CA-49F0-B77C-75953903E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539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04AE3-D7D3-82FC-0A5D-C9D4E3CA9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D8BBAF-6D3D-BB12-0CDF-28E9A6C3A6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5E6686-F2AB-CFF7-4B32-538327319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C8F5E-A10A-4B8B-AE33-D81398156D5F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7FB56C-FD3B-E363-EDFE-DE2AF9C33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EAE129-ABC7-CD47-F83D-669CC1D80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F9FFF-29CA-49F0-B77C-75953903E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358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76EA74-E03A-817C-05E0-F3F4EEA40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2FA7B9-55A3-62B2-7A2A-FBE2184FD4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DB3D2A-8AE2-566D-C240-C120B950B5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1C8F5E-A10A-4B8B-AE33-D81398156D5F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BA77EB-B42E-BA59-9180-4D38F5B8D7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FD709E-3260-1583-E258-AFE472BD8B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3F9FFF-29CA-49F0-B77C-75953903E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129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0AE394F-AFF1-4485-AF1F-7387A2F041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Video 4" descr="Pouring Black Coffee In A Mug">
            <a:extLst>
              <a:ext uri="{FF2B5EF4-FFF2-40B4-BE49-F238E27FC236}">
                <a16:creationId xmlns:a16="http://schemas.microsoft.com/office/drawing/2014/main" id="{CA089A4B-B448-D80D-F1AD-B590B44869D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t="284" r="1" b="1"/>
          <a:stretch/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683D043-25BB-4AC9-8130-6411796726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3323345"/>
          </a:xfrm>
          <a:prstGeom prst="rect">
            <a:avLst/>
          </a:prstGeom>
          <a:gradFill flip="none" rotWithShape="1">
            <a:gsLst>
              <a:gs pos="57000">
                <a:srgbClr val="000000">
                  <a:alpha val="30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E72D6A-A564-48C5-7851-DC15A33B5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1733" y="554845"/>
            <a:ext cx="10656891" cy="3902673"/>
          </a:xfrm>
        </p:spPr>
        <p:txBody>
          <a:bodyPr anchor="t">
            <a:normAutofit/>
          </a:bodyPr>
          <a:lstStyle/>
          <a:p>
            <a:pPr algn="l"/>
            <a:r>
              <a:rPr lang="en-US" sz="5200" dirty="0">
                <a:solidFill>
                  <a:srgbClr val="FFFFFF"/>
                </a:solidFill>
              </a:rPr>
              <a:t>KQL Café: Brewing Queries with </a:t>
            </a:r>
            <a:r>
              <a:rPr lang="en-US" sz="5200">
                <a:solidFill>
                  <a:srgbClr val="FFFFFF"/>
                </a:solidFill>
              </a:rPr>
              <a:t>MSAL Authentication</a:t>
            </a:r>
            <a:endParaRPr lang="en-US" sz="5200" dirty="0">
              <a:solidFill>
                <a:srgbClr val="FFFFFF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61CCAC-6875-474C-8E9E-F57ABF078C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047" y="4704862"/>
            <a:ext cx="12191999" cy="2155484"/>
          </a:xfrm>
          <a:prstGeom prst="rect">
            <a:avLst/>
          </a:prstGeom>
          <a:gradFill flip="none" rotWithShape="1">
            <a:gsLst>
              <a:gs pos="59000">
                <a:srgbClr val="000000">
                  <a:alpha val="30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EFAEC4-6A4A-1CC4-80B6-BE0CD4352B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5523" y="4718033"/>
            <a:ext cx="10678296" cy="1175039"/>
          </a:xfrm>
        </p:spPr>
        <p:txBody>
          <a:bodyPr anchor="b">
            <a:normAutofit/>
          </a:bodyPr>
          <a:lstStyle/>
          <a:p>
            <a:pPr algn="l"/>
            <a:r>
              <a:rPr lang="en-US">
                <a:solidFill>
                  <a:srgbClr val="FFFFFF"/>
                </a:solidFill>
              </a:rPr>
              <a:t>A step-by-step guide to creating an interactive KQL interface</a:t>
            </a:r>
          </a:p>
        </p:txBody>
      </p:sp>
    </p:spTree>
    <p:extLst>
      <p:ext uri="{BB962C8B-B14F-4D97-AF65-F5344CB8AC3E}">
        <p14:creationId xmlns:p14="http://schemas.microsoft.com/office/powerpoint/2010/main" val="3238120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877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90305E-7A35-2DC5-6AB8-4AA700A84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/>
              <a:t>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8D37D5-B8B3-E22A-C5B7-460ACDFC1E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1802" y="2743200"/>
            <a:ext cx="4646905" cy="361314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 dirty="0"/>
              <a:t> Let’s build a web app that allows users to authenticate with Azure, select a workspace, preview KQL (Kusto Query Language) queries from a GitHub repository, and run them in Microsoft Sentinel.</a:t>
            </a:r>
          </a:p>
          <a:p>
            <a:endParaRPr lang="en-US" sz="2000" dirty="0"/>
          </a:p>
          <a:p>
            <a:r>
              <a:rPr lang="en-US" sz="2000" dirty="0"/>
              <a:t>Here’s a step-by-step breakdown of its structure and how you could build it from scratch:</a:t>
            </a:r>
          </a:p>
        </p:txBody>
      </p:sp>
      <p:pic>
        <p:nvPicPr>
          <p:cNvPr id="5" name="Picture 4" descr="Close up of pushpins on roadmap route">
            <a:extLst>
              <a:ext uri="{FF2B5EF4-FFF2-40B4-BE49-F238E27FC236}">
                <a16:creationId xmlns:a16="http://schemas.microsoft.com/office/drawing/2014/main" id="{4788A8B3-AEE8-58B4-5409-5A1AC71876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971" r="32852"/>
          <a:stretch/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449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0882C27-3C59-42F8-94FB-86490EAA8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395E11B-D485-DCBD-1D59-04A7CA3A7E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28" y="0"/>
            <a:ext cx="120323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3662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E72D6A-A564-48C5-7851-DC15A33B5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8310" y="4960758"/>
            <a:ext cx="6796345" cy="1236086"/>
          </a:xfrm>
          <a:noFill/>
        </p:spPr>
        <p:txBody>
          <a:bodyPr anchor="ctr">
            <a:normAutofit/>
          </a:bodyPr>
          <a:lstStyle/>
          <a:p>
            <a:pPr algn="r"/>
            <a:r>
              <a:rPr lang="en-US" sz="5100"/>
              <a:t>External Dependencies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EFAEC4-6A4A-1CC4-80B6-BE0CD4352B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19869" y="4960758"/>
            <a:ext cx="3323819" cy="1236086"/>
          </a:xfrm>
          <a:noFill/>
        </p:spPr>
        <p:txBody>
          <a:bodyPr anchor="ctr">
            <a:normAutofit/>
          </a:bodyPr>
          <a:lstStyle/>
          <a:p>
            <a:pPr algn="l"/>
            <a:r>
              <a:rPr lang="en-US" dirty="0"/>
              <a:t>MSAL</a:t>
            </a:r>
          </a:p>
          <a:p>
            <a:pPr algn="l"/>
            <a:r>
              <a:rPr lang="en-US" dirty="0" err="1"/>
              <a:t>Pako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951BE2-1A57-B4C4-A743-42C1F4568EE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1" b="3404"/>
          <a:stretch/>
        </p:blipFill>
        <p:spPr>
          <a:xfrm>
            <a:off x="320040" y="320040"/>
            <a:ext cx="11548872" cy="4462272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AD2EEB5-F5B4-4BDA-8293-9A997C1299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827285" y="5121601"/>
            <a:ext cx="0" cy="91440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0427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EA0DED-5D52-659A-7DD7-63FB6B562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E15EC602-48A9-45F1-5D30-6CA6E9007B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96DBBE-F9CD-DF89-63F4-DA51E9E062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8310" y="5621914"/>
            <a:ext cx="7957755" cy="1236086"/>
          </a:xfrm>
          <a:noFill/>
        </p:spPr>
        <p:txBody>
          <a:bodyPr anchor="ctr">
            <a:normAutofit fontScale="90000"/>
          </a:bodyPr>
          <a:lstStyle/>
          <a:p>
            <a:pPr algn="r"/>
            <a:r>
              <a:rPr lang="en-US" sz="5100" dirty="0"/>
              <a:t>Microsoft Authentication Library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F009DDA-B25E-8EBD-1907-61F5D6E519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827285" y="5121601"/>
            <a:ext cx="0" cy="91440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0F4E9374-9CB4-9210-EA28-493DD33F2B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831" y="112788"/>
            <a:ext cx="11753288" cy="5744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401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F04E1A-A2EF-180C-D0E7-42879DC3E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09319326-5285-0624-44CF-B55CC9ACD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0AEB14-3ACA-6E0F-B9A0-5CC8D40499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8310" y="4960758"/>
            <a:ext cx="6796345" cy="1236086"/>
          </a:xfrm>
          <a:noFill/>
        </p:spPr>
        <p:txBody>
          <a:bodyPr anchor="ctr">
            <a:normAutofit/>
          </a:bodyPr>
          <a:lstStyle/>
          <a:p>
            <a:pPr algn="r"/>
            <a:r>
              <a:rPr lang="en-US" sz="5100" dirty="0"/>
              <a:t>Authentication Handler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97DA68-DA06-08BD-EC80-CFCA4DACBC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19869" y="4960758"/>
            <a:ext cx="3323819" cy="1236086"/>
          </a:xfrm>
          <a:noFill/>
        </p:spPr>
        <p:txBody>
          <a:bodyPr anchor="ctr">
            <a:normAutofit/>
          </a:bodyPr>
          <a:lstStyle/>
          <a:p>
            <a:pPr algn="l"/>
            <a:r>
              <a:rPr lang="en-US" dirty="0" err="1"/>
              <a:t>EntraID</a:t>
            </a:r>
            <a:r>
              <a:rPr lang="en-US" dirty="0"/>
              <a:t> Registered App</a:t>
            </a:r>
          </a:p>
          <a:p>
            <a:pPr algn="l"/>
            <a:r>
              <a:rPr lang="en-US" dirty="0"/>
              <a:t>User Impersonation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E330FE1-65D6-ECA1-E2E9-FF1C29B60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827285" y="5121601"/>
            <a:ext cx="0" cy="91440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13448943-9CE1-D8DB-5B24-1B7F3ACFF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00"/>
            <a:ext cx="12192000" cy="5117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138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C9AEEC-8A2C-07DA-B608-CEDCC0143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C8C48642-17D5-0A1A-E33C-9757D872C8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DFE55C-7E16-0FA9-2209-C739BF0D26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8312" y="5269780"/>
            <a:ext cx="6796345" cy="1236086"/>
          </a:xfrm>
          <a:noFill/>
        </p:spPr>
        <p:txBody>
          <a:bodyPr anchor="ctr">
            <a:normAutofit/>
          </a:bodyPr>
          <a:lstStyle/>
          <a:p>
            <a:pPr algn="r"/>
            <a:r>
              <a:rPr lang="en-US" sz="5100" dirty="0"/>
              <a:t>Pass the Token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0E8F3E-D753-362D-F719-3B6F2B30AD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19869" y="5269780"/>
            <a:ext cx="3323819" cy="1236086"/>
          </a:xfrm>
          <a:noFill/>
        </p:spPr>
        <p:txBody>
          <a:bodyPr anchor="ctr">
            <a:normAutofit/>
          </a:bodyPr>
          <a:lstStyle/>
          <a:p>
            <a:pPr algn="l"/>
            <a:r>
              <a:rPr lang="en-US" dirty="0"/>
              <a:t>User Impersonation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E8F1156-5C75-B46F-DBA3-0D7DE96C77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827285" y="5121601"/>
            <a:ext cx="0" cy="91440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8F4D049C-13EA-108F-3495-42F6A65726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5644"/>
            <a:ext cx="12192000" cy="5604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590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A70968-AB05-789F-23F9-F578F40FA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6119918A-CD76-6402-B072-5BDE4048EC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6DFD78-E693-AE7F-2A4A-AC2A4933BA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8312" y="5269780"/>
            <a:ext cx="6796345" cy="1236086"/>
          </a:xfrm>
          <a:noFill/>
        </p:spPr>
        <p:txBody>
          <a:bodyPr anchor="ctr">
            <a:normAutofit fontScale="90000"/>
          </a:bodyPr>
          <a:lstStyle/>
          <a:p>
            <a:pPr algn="r"/>
            <a:r>
              <a:rPr lang="en-US" sz="5100" dirty="0"/>
              <a:t>Populate from your </a:t>
            </a:r>
            <a:r>
              <a:rPr lang="en-US" sz="5100" dirty="0" err="1"/>
              <a:t>Github</a:t>
            </a:r>
            <a:endParaRPr lang="en-US" sz="51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63C741-9D8C-4C1B-9F9F-F45333FF55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19869" y="5269780"/>
            <a:ext cx="3323819" cy="1236086"/>
          </a:xfrm>
          <a:noFill/>
        </p:spPr>
        <p:txBody>
          <a:bodyPr anchor="ctr">
            <a:normAutofit/>
          </a:bodyPr>
          <a:lstStyle/>
          <a:p>
            <a:pPr algn="l"/>
            <a:r>
              <a:rPr lang="en-US" dirty="0" err="1"/>
              <a:t>Github</a:t>
            </a:r>
            <a:r>
              <a:rPr lang="en-US" dirty="0"/>
              <a:t> API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22F7102-30FE-B428-E7BA-A9A29F0AF9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827285" y="5121601"/>
            <a:ext cx="0" cy="91440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813D6ACE-5516-D0ED-BAFB-50B222C678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7056"/>
            <a:ext cx="12192000" cy="5035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53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C9DF3A-DD02-03BC-EF30-48ECDF78A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A1BEAA67-48EF-A110-0274-0848A5E3AC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0F6032-E919-CB75-A7BD-ED9D7493C7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8312" y="5269780"/>
            <a:ext cx="6796345" cy="1236086"/>
          </a:xfrm>
          <a:noFill/>
        </p:spPr>
        <p:txBody>
          <a:bodyPr anchor="ctr">
            <a:normAutofit fontScale="90000"/>
          </a:bodyPr>
          <a:lstStyle/>
          <a:p>
            <a:pPr algn="r"/>
            <a:r>
              <a:rPr lang="en-US" sz="5100" dirty="0"/>
              <a:t>Populate from your </a:t>
            </a:r>
            <a:r>
              <a:rPr lang="en-US" sz="5100" dirty="0" err="1"/>
              <a:t>Github</a:t>
            </a:r>
            <a:endParaRPr lang="en-US" sz="51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ADB676-DACC-999C-288F-DFFDD4F34F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19869" y="5269780"/>
            <a:ext cx="3323819" cy="1236086"/>
          </a:xfrm>
          <a:noFill/>
        </p:spPr>
        <p:txBody>
          <a:bodyPr anchor="ctr">
            <a:normAutofit/>
          </a:bodyPr>
          <a:lstStyle/>
          <a:p>
            <a:pPr algn="l"/>
            <a:r>
              <a:rPr lang="en-US" dirty="0" err="1"/>
              <a:t>Github</a:t>
            </a:r>
            <a:r>
              <a:rPr lang="en-US" dirty="0"/>
              <a:t> API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25FA9B6-E501-8933-BD25-4846F0E6CF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827285" y="5121601"/>
            <a:ext cx="0" cy="91440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91F88ECF-43CA-6232-A44C-90AFF0ACE701}"/>
              </a:ext>
            </a:extLst>
          </p:cNvPr>
          <p:cNvSpPr txBox="1"/>
          <p:nvPr/>
        </p:nvSpPr>
        <p:spPr>
          <a:xfrm>
            <a:off x="0" y="1347276"/>
            <a:ext cx="12188947" cy="279986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// Compress and encode the query</a:t>
            </a:r>
          </a:p>
          <a:p>
            <a:pPr>
              <a:lnSpc>
                <a:spcPts val="1425"/>
              </a:lnSpc>
            </a:pP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const </a:t>
            </a:r>
            <a:r>
              <a:rPr lang="en-US" sz="2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encodedQuery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= await </a:t>
            </a:r>
            <a:r>
              <a:rPr lang="en-US" sz="2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compressAndEncodeQuery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(content);</a:t>
            </a:r>
          </a:p>
          <a:p>
            <a:pPr>
              <a:lnSpc>
                <a:spcPts val="1425"/>
              </a:lnSpc>
            </a:pPr>
            <a:b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// Construct URL using the new format</a:t>
            </a:r>
          </a:p>
          <a:p>
            <a:pPr>
              <a:lnSpc>
                <a:spcPts val="1425"/>
              </a:lnSpc>
            </a:pP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const </a:t>
            </a:r>
            <a:r>
              <a:rPr lang="en-US" sz="2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= "https://portal.azure.com/#blade/" + </a:t>
            </a:r>
          </a:p>
          <a:p>
            <a:pPr>
              <a:lnSpc>
                <a:spcPts val="1425"/>
              </a:lnSpc>
            </a:pP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US" sz="2000" dirty="0" err="1">
                <a:solidFill>
                  <a:srgbClr val="CE9178"/>
                </a:solidFill>
                <a:effectLst/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Microsoft_Azure_Monitoring_Logs</a:t>
            </a:r>
            <a:r>
              <a:rPr lang="en-US" sz="2000" dirty="0">
                <a:solidFill>
                  <a:srgbClr val="CE9178"/>
                </a:solidFill>
                <a:effectLst/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/</a:t>
            </a:r>
            <a:r>
              <a:rPr lang="en-US" sz="2000" dirty="0" err="1">
                <a:solidFill>
                  <a:srgbClr val="CE9178"/>
                </a:solidFill>
                <a:effectLst/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LogsBlade</a:t>
            </a:r>
            <a:r>
              <a:rPr lang="en-US" sz="2000" dirty="0">
                <a:solidFill>
                  <a:srgbClr val="CE9178"/>
                </a:solidFill>
                <a:effectLst/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/</a:t>
            </a:r>
            <a:r>
              <a:rPr lang="en-US" sz="2000" dirty="0" err="1">
                <a:solidFill>
                  <a:srgbClr val="CE9178"/>
                </a:solidFill>
                <a:effectLst/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resourceId</a:t>
            </a:r>
            <a:r>
              <a:rPr lang="en-US" sz="2000" dirty="0">
                <a:solidFill>
                  <a:srgbClr val="CE9178"/>
                </a:solidFill>
                <a:effectLst/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/%2Fsubscriptions%2F</a:t>
            </a:r>
            <a:r>
              <a:rPr lang="en-US" sz="200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${s</a:t>
            </a:r>
          </a:p>
          <a:p>
            <a:pPr>
              <a:lnSpc>
                <a:spcPts val="1425"/>
              </a:lnSpc>
            </a:pPr>
            <a:endParaRPr lang="en-US" sz="2000" dirty="0">
              <a:solidFill>
                <a:schemeClr val="accent5">
                  <a:lumMod val="60000"/>
                  <a:lumOff val="40000"/>
                </a:schemeClr>
              </a:solidFill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200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ubscriptionId</a:t>
            </a:r>
            <a:r>
              <a:rPr lang="en-US" sz="200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}%</a:t>
            </a:r>
            <a:r>
              <a:rPr lang="en-US" sz="2000" dirty="0">
                <a:solidFill>
                  <a:srgbClr val="CE9178"/>
                </a:solidFill>
                <a:effectLst/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2FresourceGroups%2F</a:t>
            </a:r>
            <a:r>
              <a:rPr lang="en-US" sz="200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${</a:t>
            </a:r>
            <a:r>
              <a:rPr lang="en-US" sz="200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resourceGroup</a:t>
            </a:r>
            <a:r>
              <a:rPr lang="en-US" sz="200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}</a:t>
            </a:r>
            <a:r>
              <a:rPr lang="en-US" sz="2000" dirty="0">
                <a:solidFill>
                  <a:srgbClr val="CE9178"/>
                </a:solidFill>
                <a:effectLst/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%2Fproviders%2Fmicrosoft.opera</a:t>
            </a:r>
          </a:p>
          <a:p>
            <a:pPr>
              <a:lnSpc>
                <a:spcPts val="1425"/>
              </a:lnSpc>
            </a:pPr>
            <a:endParaRPr lang="en-US" sz="2000" dirty="0">
              <a:solidFill>
                <a:srgbClr val="CE9178"/>
              </a:solidFill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2000" dirty="0">
                <a:solidFill>
                  <a:srgbClr val="CE9178"/>
                </a:solidFill>
                <a:effectLst/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tionalinsights%2Fworkspaces%2F${</a:t>
            </a:r>
            <a:r>
              <a:rPr lang="en-US" sz="2000" dirty="0" err="1">
                <a:solidFill>
                  <a:srgbClr val="CE9178"/>
                </a:solidFill>
                <a:effectLst/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workspaceName</a:t>
            </a:r>
            <a:r>
              <a:rPr lang="en-US" sz="2000" dirty="0">
                <a:solidFill>
                  <a:srgbClr val="CE9178"/>
                </a:solidFill>
                <a:effectLst/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}/source/</a:t>
            </a:r>
            <a:r>
              <a:rPr lang="en-US" sz="2000" dirty="0" err="1">
                <a:solidFill>
                  <a:srgbClr val="CE9178"/>
                </a:solidFill>
                <a:effectLst/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LogsBlade.AnalyticsShareLi</a:t>
            </a:r>
            <a:endParaRPr lang="en-US" sz="2000" dirty="0">
              <a:solidFill>
                <a:srgbClr val="CE9178"/>
              </a:solidFill>
              <a:effectLst/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pPr>
              <a:lnSpc>
                <a:spcPts val="1425"/>
              </a:lnSpc>
            </a:pPr>
            <a:endParaRPr lang="en-US" sz="2000" dirty="0">
              <a:solidFill>
                <a:srgbClr val="CE9178"/>
              </a:solidFill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2000" dirty="0" err="1">
                <a:solidFill>
                  <a:srgbClr val="CE9178"/>
                </a:solidFill>
                <a:effectLst/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nkToQuery</a:t>
            </a:r>
            <a:r>
              <a:rPr lang="en-US" sz="2000" dirty="0">
                <a:solidFill>
                  <a:srgbClr val="CE9178"/>
                </a:solidFill>
                <a:effectLst/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/query/</a:t>
            </a:r>
            <a:r>
              <a:rPr lang="en-US" sz="2000" dirty="0">
                <a:solidFill>
                  <a:srgbClr val="00B0F0"/>
                </a:solidFill>
                <a:effectLst/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${</a:t>
            </a:r>
            <a:r>
              <a:rPr lang="en-US" sz="2000" dirty="0" err="1">
                <a:solidFill>
                  <a:srgbClr val="00B0F0"/>
                </a:solidFill>
                <a:effectLst/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encodedQuery</a:t>
            </a:r>
            <a:r>
              <a:rPr lang="en-US" sz="2000" dirty="0">
                <a:solidFill>
                  <a:srgbClr val="00B0F0"/>
                </a:solidFill>
                <a:effectLst/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}/</a:t>
            </a:r>
            <a:r>
              <a:rPr lang="en-US" sz="2000" dirty="0">
                <a:solidFill>
                  <a:schemeClr val="accent3">
                    <a:lumMod val="60000"/>
                    <a:lumOff val="40000"/>
                  </a:schemeClr>
                </a:solidFill>
                <a:effectLst/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isQueryBase64Compressed/true</a:t>
            </a: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</a:pP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737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4B21A0-811E-D3C2-BB00-FFD94E0DA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31CEE6F9-238C-CDC0-B818-83349E62CA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A1DC0F-0E47-C425-5C96-B5B569A09B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8310" y="4960758"/>
            <a:ext cx="6796345" cy="1236086"/>
          </a:xfrm>
          <a:noFill/>
        </p:spPr>
        <p:txBody>
          <a:bodyPr anchor="ctr">
            <a:normAutofit/>
          </a:bodyPr>
          <a:lstStyle/>
          <a:p>
            <a:pPr algn="r"/>
            <a:r>
              <a:rPr lang="en-US" sz="5100" dirty="0" err="1"/>
              <a:t>EntraID</a:t>
            </a:r>
            <a:r>
              <a:rPr lang="en-US" sz="5100" dirty="0"/>
              <a:t> Registered App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2403C4-F6B8-3F80-020F-69503D2E0E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19869" y="4960758"/>
            <a:ext cx="3323819" cy="1236086"/>
          </a:xfrm>
          <a:noFill/>
        </p:spPr>
        <p:txBody>
          <a:bodyPr anchor="ctr">
            <a:normAutofit/>
          </a:bodyPr>
          <a:lstStyle/>
          <a:p>
            <a:pPr algn="l"/>
            <a:r>
              <a:rPr lang="en-US" dirty="0"/>
              <a:t>Configured Permissions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B233EFB-57EA-C359-FA2E-8882D0C3D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827285" y="5121601"/>
            <a:ext cx="0" cy="91440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792F5F85-68C0-D264-81D6-576C9BACE3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21999"/>
            <a:ext cx="12192000" cy="4049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051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9B77A9-19B1-2C17-1001-CE2D03DF7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F0231BB2-6E20-F390-FBFA-B4B0E43DE0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1912D70-387C-0335-64D6-6AED9867B0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827285" y="5121601"/>
            <a:ext cx="0" cy="91440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21955003-A263-C5C3-D503-FF8102A4AC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2318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C1178E5-3A23-AF40-830A-D85277EAC7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8310" y="5417958"/>
            <a:ext cx="6796345" cy="1236086"/>
          </a:xfrm>
          <a:noFill/>
        </p:spPr>
        <p:txBody>
          <a:bodyPr anchor="ctr">
            <a:normAutofit/>
          </a:bodyPr>
          <a:lstStyle/>
          <a:p>
            <a:pPr algn="r"/>
            <a:r>
              <a:rPr lang="en-US" sz="5100" dirty="0" err="1"/>
              <a:t>EntraID</a:t>
            </a:r>
            <a:r>
              <a:rPr lang="en-US" sz="5100" dirty="0"/>
              <a:t> Registered App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C58815-5991-5681-1A4D-70695DD807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19869" y="5417958"/>
            <a:ext cx="3323819" cy="1236086"/>
          </a:xfrm>
          <a:noFill/>
        </p:spPr>
        <p:txBody>
          <a:bodyPr anchor="ctr">
            <a:normAutofit/>
          </a:bodyPr>
          <a:lstStyle/>
          <a:p>
            <a:pPr algn="l"/>
            <a:r>
              <a:rPr lang="en-US" dirty="0"/>
              <a:t>Authentication</a:t>
            </a:r>
          </a:p>
        </p:txBody>
      </p:sp>
    </p:spTree>
    <p:extLst>
      <p:ext uri="{BB962C8B-B14F-4D97-AF65-F5344CB8AC3E}">
        <p14:creationId xmlns:p14="http://schemas.microsoft.com/office/powerpoint/2010/main" val="978433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08DCD1-B353-5333-44AB-ABDC13A38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7371751D-BF47-389B-0ED1-EE6677BEF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5418A9-E8A8-79C1-AAA7-9752595364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8310" y="4960758"/>
            <a:ext cx="6796345" cy="1236086"/>
          </a:xfrm>
          <a:noFill/>
        </p:spPr>
        <p:txBody>
          <a:bodyPr anchor="ctr">
            <a:normAutofit/>
          </a:bodyPr>
          <a:lstStyle/>
          <a:p>
            <a:pPr algn="r"/>
            <a:r>
              <a:rPr lang="en-US" sz="5100" dirty="0" err="1"/>
              <a:t>EntraID</a:t>
            </a:r>
            <a:r>
              <a:rPr lang="en-US" sz="5100" dirty="0"/>
              <a:t> Registered App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38EBA6-B492-E46A-20CD-27531CE183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19869" y="4960758"/>
            <a:ext cx="3323819" cy="1236086"/>
          </a:xfrm>
          <a:noFill/>
        </p:spPr>
        <p:txBody>
          <a:bodyPr anchor="ctr">
            <a:normAutofit/>
          </a:bodyPr>
          <a:lstStyle/>
          <a:p>
            <a:pPr algn="l"/>
            <a:r>
              <a:rPr lang="en-US" dirty="0"/>
              <a:t>Authentication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B2CB24C-5D84-86E9-C496-02D235570F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827285" y="5121601"/>
            <a:ext cx="0" cy="91440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9C25902D-80F5-07AB-3F52-B0DD91C945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49" y="668122"/>
            <a:ext cx="12192000" cy="363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98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up with a heart">
            <a:extLst>
              <a:ext uri="{FF2B5EF4-FFF2-40B4-BE49-F238E27FC236}">
                <a16:creationId xmlns:a16="http://schemas.microsoft.com/office/drawing/2014/main" id="{371F063B-53E5-AAAE-86D2-BFE8CA11DC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223" b="1"/>
          <a:stretch/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1D1E49-BCEF-C273-8642-F577E5694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>
                <a:solidFill>
                  <a:srgbClr val="FFFFFF"/>
                </a:solidFill>
              </a:rPr>
              <a:t>Thank you for sipping some KQL Coffee with me today</a:t>
            </a:r>
          </a:p>
        </p:txBody>
      </p:sp>
    </p:spTree>
    <p:extLst>
      <p:ext uri="{BB962C8B-B14F-4D97-AF65-F5344CB8AC3E}">
        <p14:creationId xmlns:p14="http://schemas.microsoft.com/office/powerpoint/2010/main" val="40073988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220</Words>
  <Application>Microsoft Office PowerPoint</Application>
  <PresentationFormat>Widescreen</PresentationFormat>
  <Paragraphs>40</Paragraphs>
  <Slides>13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Cascadia Code SemiBold</vt:lpstr>
      <vt:lpstr>Consolas</vt:lpstr>
      <vt:lpstr>Office Theme</vt:lpstr>
      <vt:lpstr>KQL Café: Brewing Queries with MSAL Authentication</vt:lpstr>
      <vt:lpstr>Overview</vt:lpstr>
      <vt:lpstr>PowerPoint Presentation</vt:lpstr>
      <vt:lpstr>External Dependencies</vt:lpstr>
      <vt:lpstr>Microsoft Authentication Library</vt:lpstr>
      <vt:lpstr>Authentication Handler</vt:lpstr>
      <vt:lpstr>Pass the Token</vt:lpstr>
      <vt:lpstr>Populate from your Github</vt:lpstr>
      <vt:lpstr>Populate from your Github</vt:lpstr>
      <vt:lpstr>EntraID Registered App</vt:lpstr>
      <vt:lpstr>EntraID Registered App</vt:lpstr>
      <vt:lpstr>EntraID Registered App</vt:lpstr>
      <vt:lpstr>Thank you for sipping some KQL Coffee with me today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Ian Hanley</dc:creator>
  <cp:lastModifiedBy>Ian Hanley</cp:lastModifiedBy>
  <cp:revision>1</cp:revision>
  <dcterms:created xsi:type="dcterms:W3CDTF">2025-01-28T00:59:45Z</dcterms:created>
  <dcterms:modified xsi:type="dcterms:W3CDTF">2025-01-28T03:38:46Z</dcterms:modified>
</cp:coreProperties>
</file>