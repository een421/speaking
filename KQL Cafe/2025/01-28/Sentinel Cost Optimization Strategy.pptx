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AAEB37-BCA9-4AB9-962D-1E591752322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B5F0AB3-F263-4FCF-A94B-FDD5E973D954}">
      <dgm:prSet/>
      <dgm:spPr/>
      <dgm:t>
        <a:bodyPr/>
        <a:lstStyle/>
        <a:p>
          <a:r>
            <a:rPr lang="en-US" dirty="0"/>
            <a:t>Querying the Usage table for billable data and summarizing it by day and solution, converting the volume into GB per day.</a:t>
          </a:r>
        </a:p>
      </dgm:t>
    </dgm:pt>
    <dgm:pt modelId="{330DD644-560F-4806-874D-D1F411C3918A}" type="parTrans" cxnId="{8E1BB31C-D326-413D-AC2B-830BDDC4295A}">
      <dgm:prSet/>
      <dgm:spPr/>
      <dgm:t>
        <a:bodyPr/>
        <a:lstStyle/>
        <a:p>
          <a:endParaRPr lang="en-US"/>
        </a:p>
      </dgm:t>
    </dgm:pt>
    <dgm:pt modelId="{F820BC10-0AF6-4178-90B9-0FBE5A25A4C5}" type="sibTrans" cxnId="{8E1BB31C-D326-413D-AC2B-830BDDC4295A}">
      <dgm:prSet/>
      <dgm:spPr/>
      <dgm:t>
        <a:bodyPr/>
        <a:lstStyle/>
        <a:p>
          <a:endParaRPr lang="en-US"/>
        </a:p>
      </dgm:t>
    </dgm:pt>
    <dgm:pt modelId="{8434597F-D72F-40C9-A0F4-30227D080609}">
      <dgm:prSet/>
      <dgm:spPr/>
      <dgm:t>
        <a:bodyPr/>
        <a:lstStyle/>
        <a:p>
          <a:r>
            <a:rPr lang="en-US"/>
            <a:t>This helps visualize the data ingestion volumes over time and monitor cost optimization progress.</a:t>
          </a:r>
        </a:p>
      </dgm:t>
    </dgm:pt>
    <dgm:pt modelId="{CE7D31CD-F211-45EB-8230-898EB33E7A3F}" type="parTrans" cxnId="{4A57BA48-8A39-47C5-BE69-F74B0062E578}">
      <dgm:prSet/>
      <dgm:spPr/>
      <dgm:t>
        <a:bodyPr/>
        <a:lstStyle/>
        <a:p>
          <a:endParaRPr lang="en-US"/>
        </a:p>
      </dgm:t>
    </dgm:pt>
    <dgm:pt modelId="{09EE504F-9BE5-4AC0-A901-B0DCA53E5041}" type="sibTrans" cxnId="{4A57BA48-8A39-47C5-BE69-F74B0062E578}">
      <dgm:prSet/>
      <dgm:spPr/>
      <dgm:t>
        <a:bodyPr/>
        <a:lstStyle/>
        <a:p>
          <a:endParaRPr lang="en-US"/>
        </a:p>
      </dgm:t>
    </dgm:pt>
    <dgm:pt modelId="{0ACC6F72-9189-4418-BDB3-E0834F954264}" type="pres">
      <dgm:prSet presAssocID="{05AAEB37-BCA9-4AB9-962D-1E591752322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A7B2F8F-2ADC-4A03-8257-CFA747815775}" type="pres">
      <dgm:prSet presAssocID="{AB5F0AB3-F263-4FCF-A94B-FDD5E973D954}" presName="hierRoot1" presStyleCnt="0"/>
      <dgm:spPr/>
    </dgm:pt>
    <dgm:pt modelId="{E41CAADF-A5AF-4682-A417-1AB67807C4A5}" type="pres">
      <dgm:prSet presAssocID="{AB5F0AB3-F263-4FCF-A94B-FDD5E973D954}" presName="composite" presStyleCnt="0"/>
      <dgm:spPr/>
    </dgm:pt>
    <dgm:pt modelId="{73B1F466-2893-4F02-A57F-C5D1F242D816}" type="pres">
      <dgm:prSet presAssocID="{AB5F0AB3-F263-4FCF-A94B-FDD5E973D954}" presName="background" presStyleLbl="node0" presStyleIdx="0" presStyleCnt="2"/>
      <dgm:spPr/>
    </dgm:pt>
    <dgm:pt modelId="{B86DD311-4F29-4426-829A-15AC30A021F0}" type="pres">
      <dgm:prSet presAssocID="{AB5F0AB3-F263-4FCF-A94B-FDD5E973D954}" presName="text" presStyleLbl="fgAcc0" presStyleIdx="0" presStyleCnt="2">
        <dgm:presLayoutVars>
          <dgm:chPref val="3"/>
        </dgm:presLayoutVars>
      </dgm:prSet>
      <dgm:spPr/>
    </dgm:pt>
    <dgm:pt modelId="{DDBA9552-D116-4A7A-AC6A-8F850F0CCAA1}" type="pres">
      <dgm:prSet presAssocID="{AB5F0AB3-F263-4FCF-A94B-FDD5E973D954}" presName="hierChild2" presStyleCnt="0"/>
      <dgm:spPr/>
    </dgm:pt>
    <dgm:pt modelId="{2C67F432-921F-4A2A-B2F4-BCCE9EDDDB1F}" type="pres">
      <dgm:prSet presAssocID="{8434597F-D72F-40C9-A0F4-30227D080609}" presName="hierRoot1" presStyleCnt="0"/>
      <dgm:spPr/>
    </dgm:pt>
    <dgm:pt modelId="{02EA2E68-BC73-40F6-86D1-E9216924967F}" type="pres">
      <dgm:prSet presAssocID="{8434597F-D72F-40C9-A0F4-30227D080609}" presName="composite" presStyleCnt="0"/>
      <dgm:spPr/>
    </dgm:pt>
    <dgm:pt modelId="{6189E890-8698-4C8D-AA43-745D7B497096}" type="pres">
      <dgm:prSet presAssocID="{8434597F-D72F-40C9-A0F4-30227D080609}" presName="background" presStyleLbl="node0" presStyleIdx="1" presStyleCnt="2"/>
      <dgm:spPr/>
    </dgm:pt>
    <dgm:pt modelId="{A641930E-D798-4696-A567-723A80CAB58E}" type="pres">
      <dgm:prSet presAssocID="{8434597F-D72F-40C9-A0F4-30227D080609}" presName="text" presStyleLbl="fgAcc0" presStyleIdx="1" presStyleCnt="2">
        <dgm:presLayoutVars>
          <dgm:chPref val="3"/>
        </dgm:presLayoutVars>
      </dgm:prSet>
      <dgm:spPr/>
    </dgm:pt>
    <dgm:pt modelId="{91699912-C456-4AF0-A33F-23EDB6A816A0}" type="pres">
      <dgm:prSet presAssocID="{8434597F-D72F-40C9-A0F4-30227D080609}" presName="hierChild2" presStyleCnt="0"/>
      <dgm:spPr/>
    </dgm:pt>
  </dgm:ptLst>
  <dgm:cxnLst>
    <dgm:cxn modelId="{8E1BB31C-D326-413D-AC2B-830BDDC4295A}" srcId="{05AAEB37-BCA9-4AB9-962D-1E5917523227}" destId="{AB5F0AB3-F263-4FCF-A94B-FDD5E973D954}" srcOrd="0" destOrd="0" parTransId="{330DD644-560F-4806-874D-D1F411C3918A}" sibTransId="{F820BC10-0AF6-4178-90B9-0FBE5A25A4C5}"/>
    <dgm:cxn modelId="{9347CF34-8876-47C7-A62D-5E9E9EA06140}" type="presOf" srcId="{05AAEB37-BCA9-4AB9-962D-1E5917523227}" destId="{0ACC6F72-9189-4418-BDB3-E0834F954264}" srcOrd="0" destOrd="0" presId="urn:microsoft.com/office/officeart/2005/8/layout/hierarchy1"/>
    <dgm:cxn modelId="{4A57BA48-8A39-47C5-BE69-F74B0062E578}" srcId="{05AAEB37-BCA9-4AB9-962D-1E5917523227}" destId="{8434597F-D72F-40C9-A0F4-30227D080609}" srcOrd="1" destOrd="0" parTransId="{CE7D31CD-F211-45EB-8230-898EB33E7A3F}" sibTransId="{09EE504F-9BE5-4AC0-A901-B0DCA53E5041}"/>
    <dgm:cxn modelId="{1A861DC6-13FC-483C-B573-75088DE91C05}" type="presOf" srcId="{8434597F-D72F-40C9-A0F4-30227D080609}" destId="{A641930E-D798-4696-A567-723A80CAB58E}" srcOrd="0" destOrd="0" presId="urn:microsoft.com/office/officeart/2005/8/layout/hierarchy1"/>
    <dgm:cxn modelId="{3A5F36CF-0675-47D6-85CF-7D133AACC47F}" type="presOf" srcId="{AB5F0AB3-F263-4FCF-A94B-FDD5E973D954}" destId="{B86DD311-4F29-4426-829A-15AC30A021F0}" srcOrd="0" destOrd="0" presId="urn:microsoft.com/office/officeart/2005/8/layout/hierarchy1"/>
    <dgm:cxn modelId="{D0A25AA3-4112-42CC-9060-1D41F9CF8E3D}" type="presParOf" srcId="{0ACC6F72-9189-4418-BDB3-E0834F954264}" destId="{AA7B2F8F-2ADC-4A03-8257-CFA747815775}" srcOrd="0" destOrd="0" presId="urn:microsoft.com/office/officeart/2005/8/layout/hierarchy1"/>
    <dgm:cxn modelId="{79EF2347-F5B3-4148-94A4-C505F953AC40}" type="presParOf" srcId="{AA7B2F8F-2ADC-4A03-8257-CFA747815775}" destId="{E41CAADF-A5AF-4682-A417-1AB67807C4A5}" srcOrd="0" destOrd="0" presId="urn:microsoft.com/office/officeart/2005/8/layout/hierarchy1"/>
    <dgm:cxn modelId="{892DFAF9-70BE-4CA0-80BF-545DEB88E982}" type="presParOf" srcId="{E41CAADF-A5AF-4682-A417-1AB67807C4A5}" destId="{73B1F466-2893-4F02-A57F-C5D1F242D816}" srcOrd="0" destOrd="0" presId="urn:microsoft.com/office/officeart/2005/8/layout/hierarchy1"/>
    <dgm:cxn modelId="{EA609B4E-27D1-4665-98EA-0A30EAB6B9E4}" type="presParOf" srcId="{E41CAADF-A5AF-4682-A417-1AB67807C4A5}" destId="{B86DD311-4F29-4426-829A-15AC30A021F0}" srcOrd="1" destOrd="0" presId="urn:microsoft.com/office/officeart/2005/8/layout/hierarchy1"/>
    <dgm:cxn modelId="{1BFCBD20-CB65-4E6F-AAF6-BCBE557E8A29}" type="presParOf" srcId="{AA7B2F8F-2ADC-4A03-8257-CFA747815775}" destId="{DDBA9552-D116-4A7A-AC6A-8F850F0CCAA1}" srcOrd="1" destOrd="0" presId="urn:microsoft.com/office/officeart/2005/8/layout/hierarchy1"/>
    <dgm:cxn modelId="{F64E18E0-DD01-4A39-9613-A26B9C7076DA}" type="presParOf" srcId="{0ACC6F72-9189-4418-BDB3-E0834F954264}" destId="{2C67F432-921F-4A2A-B2F4-BCCE9EDDDB1F}" srcOrd="1" destOrd="0" presId="urn:microsoft.com/office/officeart/2005/8/layout/hierarchy1"/>
    <dgm:cxn modelId="{B1A9EFA6-12A8-43D9-8C40-3B5F59655B28}" type="presParOf" srcId="{2C67F432-921F-4A2A-B2F4-BCCE9EDDDB1F}" destId="{02EA2E68-BC73-40F6-86D1-E9216924967F}" srcOrd="0" destOrd="0" presId="urn:microsoft.com/office/officeart/2005/8/layout/hierarchy1"/>
    <dgm:cxn modelId="{96F7FFBD-93B8-4816-B4C5-90A9E506EF9C}" type="presParOf" srcId="{02EA2E68-BC73-40F6-86D1-E9216924967F}" destId="{6189E890-8698-4C8D-AA43-745D7B497096}" srcOrd="0" destOrd="0" presId="urn:microsoft.com/office/officeart/2005/8/layout/hierarchy1"/>
    <dgm:cxn modelId="{8F7F04FC-686B-4479-8741-4179E272F516}" type="presParOf" srcId="{02EA2E68-BC73-40F6-86D1-E9216924967F}" destId="{A641930E-D798-4696-A567-723A80CAB58E}" srcOrd="1" destOrd="0" presId="urn:microsoft.com/office/officeart/2005/8/layout/hierarchy1"/>
    <dgm:cxn modelId="{89A9FC6D-14E9-4E89-AB53-63633F411694}" type="presParOf" srcId="{2C67F432-921F-4A2A-B2F4-BCCE9EDDDB1F}" destId="{91699912-C456-4AF0-A33F-23EDB6A816A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1F466-2893-4F02-A57F-C5D1F242D816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DD311-4F29-4426-829A-15AC30A021F0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Querying the Usage table for billable data and summarizing it by day and solution, converting the volume into GB per day.</a:t>
          </a:r>
        </a:p>
      </dsp:txBody>
      <dsp:txXfrm>
        <a:off x="696297" y="538547"/>
        <a:ext cx="4171627" cy="2590157"/>
      </dsp:txXfrm>
    </dsp:sp>
    <dsp:sp modelId="{6189E890-8698-4C8D-AA43-745D7B497096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41930E-D798-4696-A567-723A80CAB58E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This helps visualize the data ingestion volumes over time and monitor cost optimization progress.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5D4D1-497D-45B0-9E55-D98C05D103D5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CD3959-6A16-4BE3-BCA6-CDB437DE7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35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This query compares data ingestion volumes over two periods (30-60 days ago and the last 30 days), showing the top 5 data sources with the largest volume changes.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D3959-6A16-4BE3-BCA6-CDB437DE79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20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3C58-D88C-4AFB-7418-6E06E6192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6FE33A-072B-57CA-EA64-5B3B1FFB6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29114-9DE7-1F31-E41C-DE794BFC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03FA-FAFC-421D-AB8E-4720CBAED3F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F97A4-5D62-8A5D-7C2D-03A18B1F9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65712-9CF3-8577-DA87-05108FD37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103B6-A6AB-4F62-8993-A037D3B60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88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71954-818F-BBCE-3909-4B8639B1F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87E17-94C0-69F0-AD38-3B22DCF24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30A9F-B4E7-0B25-1618-368EB9335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03FA-FAFC-421D-AB8E-4720CBAED3F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C4E18-90E4-F5D5-5BD7-4319CF7B0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97DC0-4B4D-BBAF-F3A8-24BE6C322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103B6-A6AB-4F62-8993-A037D3B60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13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A7D15-3229-B619-EB78-6AE61C878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E69A7-41FA-FBF6-E623-ECE5CDF7D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FE763-0301-0293-8D3F-A22E502D4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03FA-FAFC-421D-AB8E-4720CBAED3F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6D1F2-04D5-6EE7-1FDD-6E92CF0B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7CBA8-00F1-230C-C34C-A54EC73D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103B6-A6AB-4F62-8993-A037D3B60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91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FD2DA-7880-F813-3234-BC630183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2632E-A25D-3EF7-5C33-87E0DF20F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8848A-B6B7-ACAA-C505-6B79A1871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D0FB7-C08C-7E2C-E2C1-356D857FF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03FA-FAFC-421D-AB8E-4720CBAED3F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30826-4B2B-1BE5-B4CB-D1C84EBEA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3618F-6C9F-C289-65CD-2AB98A7B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103B6-A6AB-4F62-8993-A037D3B60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46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E954-C9B4-E753-D92D-CD5357EE1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04FF3-6929-FC7A-E42D-779620E6D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B2233-E702-D397-8C08-F85CC80C2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9F577A-106F-FD24-C248-5691512A8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A33D64-379E-B6E5-3E12-A48238501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8BC07-9CEE-E822-663A-EC36E513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03FA-FAFC-421D-AB8E-4720CBAED3F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A5765F-DD61-8EE4-BF66-8E40D76A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9E24E-048F-E25D-B071-93B8DC1CF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103B6-A6AB-4F62-8993-A037D3B60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52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BAB1E-601C-E194-F271-D2974D99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D87B3-4850-BD0E-9F19-C9D679B4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03FA-FAFC-421D-AB8E-4720CBAED3F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30B32-A6B4-5940-DFC9-2234A6E2E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12DD9-4BA8-FDCF-1282-A38394C1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103B6-A6AB-4F62-8993-A037D3B60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0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923F7-C377-34F0-4EA1-3D7A79A82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03FA-FAFC-421D-AB8E-4720CBAED3F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41943-74BB-2F49-F4A7-3779DFE63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7C64A-B593-C29E-3ECA-0D7E749D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103B6-A6AB-4F62-8993-A037D3B60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46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0A24-A4EE-103F-8B4F-37A1A1A15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ED2CD-F440-7D30-D37B-D23ACBF89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B4B1A-724F-D783-D44B-781952799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267A4-8154-1E94-CC22-85199D83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03FA-FAFC-421D-AB8E-4720CBAED3F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D7B85-6B29-FA28-EA66-3F2ED8B92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2A7EF-0C46-1BB7-ED19-02EB9E97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103B6-A6AB-4F62-8993-A037D3B60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30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6BF3A-E2F2-276C-5266-441F266C7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3F120D-C694-3983-DCE2-0E59C0A4BF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3F0BD-9C55-AC3C-DE03-319644BE4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B87BF-4E34-A929-6DE0-151854CC7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03FA-FAFC-421D-AB8E-4720CBAED3F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5CD58-6198-296A-6F71-AE21E892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E9383-1DBB-1742-5878-AA87638D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103B6-A6AB-4F62-8993-A037D3B60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17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B0D43-2D43-BDB0-A947-97BCF49AA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0FFD6-B2AD-129A-2C11-DC969707D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16367-DC03-DEE5-9FB3-6C7D6E799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03FA-FAFC-421D-AB8E-4720CBAED3F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B5818-6722-7A36-60A5-3A0EE55D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8FFAD-EFBB-119D-A7AE-4B37C209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103B6-A6AB-4F62-8993-A037D3B60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80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0100F0-DB1F-4401-331A-9B1CC7341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C898F-7651-73B4-10D9-D97B33543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89C90-7AB9-AC86-E060-369B88B8C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03FA-FAFC-421D-AB8E-4720CBAED3F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AF46E-1825-8E7A-1BE8-E07D41ED8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6F6CC-3CC5-AD2D-C698-1262DEB5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103B6-A6AB-4F62-8993-A037D3B60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39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284B-FA28-8DA2-E437-92AD54E84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7A1BB-9873-3208-2441-DF0971F56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8FCB6-E72D-4C17-5867-DDFC8C9A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03FA-FAFC-421D-AB8E-4720CBAED3F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06049-2D64-7271-E79F-3FB83DA4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FFA0-9893-2D41-6967-69BDCFD7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103B6-A6AB-4F62-8993-A037D3B60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0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91CC1F-3C40-752B-9480-22F38CA9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522AA-C9C1-CBDC-261B-2AD471E80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90251-DA2D-1C83-30DD-A8A7FD8D6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2B03FA-FAFC-421D-AB8E-4720CBAED3F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FB51C-6CCC-18FC-F897-A2439A263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947CD-B42E-3B4B-4DF2-977AECA97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103B6-A6AB-4F62-8993-A037D3B60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1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nley.cloud/2024-01-19-PowerBI-&amp;-Log-Analytics-Workspace/" TargetMode="External"/><Relationship Id="rId2" Type="http://schemas.openxmlformats.org/officeDocument/2006/relationships/hyperlink" Target="https://github.com/EEN421/Sentinel_Cost_Optimization/blob/Main/Cost%20Optimization%20Workbook%20Gallery%20Template%20%20V1.json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0C7252-593F-BDB1-345D-36FB246F9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/>
              <a:t>KQL Cafe: Sentinel Cost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008AAB-6E55-6B04-D271-16096C70F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en-US"/>
              <a:t>Ingest Cost Optimization Strategies in Microsoft Sentinel</a:t>
            </a:r>
          </a:p>
        </p:txBody>
      </p:sp>
      <p:pic>
        <p:nvPicPr>
          <p:cNvPr id="7" name="Graphic 6" descr="Fork and knife">
            <a:extLst>
              <a:ext uri="{FF2B5EF4-FFF2-40B4-BE49-F238E27FC236}">
                <a16:creationId xmlns:a16="http://schemas.microsoft.com/office/drawing/2014/main" id="{398E3E0E-40C1-F1A3-3DA1-FC83803C2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Fork and knife">
            <a:extLst>
              <a:ext uri="{FF2B5EF4-FFF2-40B4-BE49-F238E27FC236}">
                <a16:creationId xmlns:a16="http://schemas.microsoft.com/office/drawing/2014/main" id="{AF3497B9-81C4-46A9-9D76-24661BD2B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8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42E2FBEA-B85E-84AC-B6A8-6070DD342E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92" r="12742" b="-1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E8A44B-5DF6-3E95-FA43-C5D6D8C7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Importance of Ingest Cost Optimization Strategies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71E59-F1DC-D23A-82C1-95A54F3D3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Optimizing data ingestion costs helps to manage Sentinel expenses effectively. By monitoring and adjusting data volumes and sources, we can significantly reduce costs while maintaining data integrity and security.</a:t>
            </a:r>
          </a:p>
        </p:txBody>
      </p:sp>
    </p:spTree>
    <p:extLst>
      <p:ext uri="{BB962C8B-B14F-4D97-AF65-F5344CB8AC3E}">
        <p14:creationId xmlns:p14="http://schemas.microsoft.com/office/powerpoint/2010/main" val="576448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098D30-675D-B73F-3E36-370EF143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37" y="-312717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Ingest Volume Query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5BE4880-0760-3FE0-1289-19E193D358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64719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99DF63-34EC-B69B-9F3A-0500C8ADDB3D}"/>
              </a:ext>
            </a:extLst>
          </p:cNvPr>
          <p:cNvSpPr txBox="1"/>
          <p:nvPr/>
        </p:nvSpPr>
        <p:spPr>
          <a:xfrm>
            <a:off x="866512" y="939770"/>
            <a:ext cx="107854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Usage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Query the Usage table</a:t>
            </a: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IsBillable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true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Only include 'billable' data</a:t>
            </a: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summarize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TotalVolumeGB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sum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Quantity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/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1000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by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bin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StartTime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1d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Solution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Aggregate by day and solution</a:t>
            </a: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render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columnchart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Visualize as a column chart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36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51F9D-C0B7-0232-91FA-D2D127C1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36" y="1825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Cost Summary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B8BD5-A192-B5A6-D088-8B7036673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555" y="5196014"/>
            <a:ext cx="10515600" cy="18993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dirty="0"/>
              <a:t>Summarizes the total GB ingested in the last 7 days, calculates daily average, weekly total, and provides an estimate of the monthly cost.</a:t>
            </a:r>
          </a:p>
        </p:txBody>
      </p:sp>
      <p:pic>
        <p:nvPicPr>
          <p:cNvPr id="11" name="Picture 10" descr="Codes on papers">
            <a:extLst>
              <a:ext uri="{FF2B5EF4-FFF2-40B4-BE49-F238E27FC236}">
                <a16:creationId xmlns:a16="http://schemas.microsoft.com/office/drawing/2014/main" id="{BD1EF0E0-AFFD-4F12-8487-924D19C10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" t="17964" r="19263" b="45192"/>
          <a:stretch/>
        </p:blipFill>
        <p:spPr>
          <a:xfrm>
            <a:off x="5727032" y="114951"/>
            <a:ext cx="6250413" cy="19070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5C6C45-BAEA-D68E-33DA-542ED7343871}"/>
              </a:ext>
            </a:extLst>
          </p:cNvPr>
          <p:cNvSpPr txBox="1"/>
          <p:nvPr/>
        </p:nvSpPr>
        <p:spPr>
          <a:xfrm>
            <a:off x="214555" y="1954001"/>
            <a:ext cx="12048135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Usage</a:t>
            </a:r>
            <a:endParaRPr lang="en-US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TimeGenerated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696969"/>
                </a:solidFill>
                <a:latin typeface="Lucida Console" panose="020B060904050402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ago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dirty="0">
                <a:solidFill>
                  <a:srgbClr val="800080"/>
                </a:solidFill>
                <a:latin typeface="Lucida Console" panose="020B0609040504020204" pitchFamily="49" charset="0"/>
              </a:rPr>
              <a:t>7d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Last 7 days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IsBillable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==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true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We only care about billable ingest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summarize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TotalGB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round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sum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Quantity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/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Lucida Console" panose="020B0609040504020204" pitchFamily="49" charset="0"/>
              </a:rPr>
              <a:t>1024</a:t>
            </a:r>
            <a:r>
              <a:rPr lang="en-US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Lucida Console" panose="020B0609040504020204" pitchFamily="49" charset="0"/>
              </a:rPr>
              <a:t>2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Calculate total GB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extend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['Daily Average (GB)']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round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TotalGB</a:t>
            </a:r>
            <a:r>
              <a:rPr 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/7</a:t>
            </a:r>
            <a:r>
              <a:rPr lang="en-US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Lucida Console" panose="020B0609040504020204" pitchFamily="49" charset="0"/>
              </a:rPr>
              <a:t>2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extend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['Weekly Total (GB)']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TotalGB</a:t>
            </a:r>
            <a:endParaRPr lang="en-US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extend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['Estimated Monthly Cost ($)']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round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TotalGB</a:t>
            </a:r>
            <a:r>
              <a:rPr 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/7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*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Lucida Console" panose="020B0609040504020204" pitchFamily="49" charset="0"/>
              </a:rPr>
              <a:t>30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*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Lucida Console" panose="020B0609040504020204" pitchFamily="49" charset="0"/>
              </a:rPr>
              <a:t>2.0</a:t>
            </a:r>
            <a:r>
              <a:rPr lang="en-US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Lucida Console" panose="020B0609040504020204" pitchFamily="49" charset="0"/>
              </a:rPr>
              <a:t>2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Estimate cost based on rate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project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['Daily Average (GB)']</a:t>
            </a:r>
            <a:r>
              <a:rPr lang="en-US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['Weekly Total (GB)']</a:t>
            </a:r>
            <a:r>
              <a:rPr lang="en-US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8A2BE2"/>
                </a:solidFill>
                <a:latin typeface="Lucida Console" panose="020B0609040504020204" pitchFamily="49" charset="0"/>
              </a:rPr>
              <a:t>['Estimated Monthly Cost ($)']</a:t>
            </a:r>
            <a:endParaRPr lang="en-US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92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6A87FD-D6AA-420E-A0C5-827981561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86" y="91240"/>
            <a:ext cx="5908507" cy="8050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Volume Changes Query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D5644DE4-95A9-ADBC-1A42-69A5FCE8E3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46" t="-158" r="43309" b="156"/>
          <a:stretch/>
        </p:blipFill>
        <p:spPr>
          <a:xfrm>
            <a:off x="7937369" y="-10886"/>
            <a:ext cx="4254632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A0E518-C209-29DB-3C6F-CF0A743C0090}"/>
              </a:ext>
            </a:extLst>
          </p:cNvPr>
          <p:cNvSpPr txBox="1"/>
          <p:nvPr/>
        </p:nvSpPr>
        <p:spPr>
          <a:xfrm>
            <a:off x="149893" y="896312"/>
            <a:ext cx="77874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let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PriorPeriod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toscalar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Usage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TimeGenerated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&gt;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ago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60d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and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TimeGenerated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&lt;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ago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30d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IsBillable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true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summarize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min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TimeGenerated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));</a:t>
            </a:r>
          </a:p>
          <a:p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let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CurrentPeriod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toscalar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Usage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TimeGenerated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&gt;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ago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30d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IsBillable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true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summarize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max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TimeGenerated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));</a:t>
            </a:r>
          </a:p>
          <a:p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let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PriorData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Usage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TimeGenerated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between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(</a:t>
            </a:r>
            <a:r>
              <a:rPr lang="en-US" sz="1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PriorPeriod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..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ago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30d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))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IsBillable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true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summarize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PriorGB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round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todouble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sum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Quantity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))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/1024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by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DataType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let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CurrentData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Usage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TimeGenerated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&gt;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ago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30d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IsBillable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true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summarize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CurrentGB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round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todouble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sum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Quantity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))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/1024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by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DataType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PriorData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join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kind=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fullouter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CurrentData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on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DataType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fr-FR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fr-FR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extend</a:t>
            </a:r>
            <a:r>
              <a:rPr lang="fr-FR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DataType</a:t>
            </a:r>
            <a:r>
              <a:rPr lang="fr-FR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fr-FR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coalesce</a:t>
            </a:r>
            <a:r>
              <a:rPr lang="fr-FR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fr-FR" sz="1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DataType</a:t>
            </a:r>
            <a:r>
              <a:rPr lang="fr-FR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fr-FR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DataType1</a:t>
            </a:r>
            <a:r>
              <a:rPr lang="fr-FR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fr-FR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endParaRPr lang="fr-FR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PriorGB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coalesce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PriorGB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0.0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CurrentGB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coalesce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CurrentGB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0.0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project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['Data Source']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DataType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['Previous 30 Days (GB)']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PriorGB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['Current 30 Days (GB)']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CurrentGB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['Change (GB)']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round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CurrentGB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-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PriorGB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['Change %']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iif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PriorGB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&gt;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0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round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(((</a:t>
            </a:r>
            <a:r>
              <a:rPr lang="en-US" sz="12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CurrentGB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-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PriorGB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/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PriorGB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100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100.0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['Current 30 Days (GB)']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&gt;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['Previous 30 Days (GB)']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&gt;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0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top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00080"/>
                </a:solidFill>
                <a:latin typeface="Lucida Console" panose="020B0609040504020204" pitchFamily="49" charset="0"/>
              </a:rPr>
              <a:t>5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by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abs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</a:rPr>
              <a:t>['Change (GB)']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200" dirty="0">
                <a:solidFill>
                  <a:srgbClr val="8A2BE2"/>
                </a:solidFill>
                <a:latin typeface="Lucida Console" panose="020B0609040504020204" pitchFamily="49" charset="0"/>
              </a:rPr>
              <a:t>desc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0104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33DB8-0842-6EA7-009A-E6C17867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31" y="-145014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Top Sources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366D3-9421-3404-E404-DCA29783B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31" y="2111604"/>
            <a:ext cx="6576527" cy="61925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dirty="0"/>
              <a:t>Identifies the top 10 billable data sources based on total volume ingested in the last 30 days and estimates the associated costs.</a:t>
            </a: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92739302-6204-6905-1019-49A55B0D7E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31" r="33420" b="-2"/>
          <a:stretch/>
        </p:blipFill>
        <p:spPr>
          <a:xfrm>
            <a:off x="8107052" y="1"/>
            <a:ext cx="4091773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82BB43-EF87-BDA8-DA16-0CA20FB41252}"/>
              </a:ext>
            </a:extLst>
          </p:cNvPr>
          <p:cNvSpPr txBox="1"/>
          <p:nvPr/>
        </p:nvSpPr>
        <p:spPr>
          <a:xfrm>
            <a:off x="31724" y="1180549"/>
            <a:ext cx="80753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Usage</a:t>
            </a: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TimeGenerated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&gt;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ago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30d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800" dirty="0">
                <a:solidFill>
                  <a:schemeClr val="accent6"/>
                </a:solidFill>
                <a:latin typeface="Lucida Console" panose="020B0609040504020204" pitchFamily="49" charset="0"/>
              </a:rPr>
              <a:t>// Filter for the last 30 days</a:t>
            </a: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IsBillable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true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chemeClr val="accent6"/>
                </a:solidFill>
                <a:latin typeface="Lucida Console" panose="020B0609040504020204" pitchFamily="49" charset="0"/>
              </a:rPr>
              <a:t>// Include only billable data</a:t>
            </a: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summarize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TotalGB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round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sum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Quantity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/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1024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by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DataType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chemeClr val="accent6"/>
                </a:solidFill>
                <a:latin typeface="Lucida Console" panose="020B0609040504020204" pitchFamily="49" charset="0"/>
              </a:rPr>
              <a:t>// Summarize by data type, calculating total GB</a:t>
            </a: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top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10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by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TotalGB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desc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chemeClr val="accent6"/>
                </a:solidFill>
                <a:latin typeface="Lucida Console" panose="020B0609040504020204" pitchFamily="49" charset="0"/>
              </a:rPr>
              <a:t>// Get top 10 data types by volume in descending order</a:t>
            </a: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project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['Data Type']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DataType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['Total GB']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TotalGB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['Estimated Cost ($)']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TotalGB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*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2.0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chemeClr val="accent6"/>
                </a:solidFill>
                <a:latin typeface="Lucida Console" panose="020B0609040504020204" pitchFamily="49" charset="0"/>
              </a:rPr>
              <a:t>// Project relevant columns, including estimated cost</a:t>
            </a:r>
          </a:p>
          <a:p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  <a:p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6002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4B65B-6F78-91D6-4F38-D634F8593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12703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Event Costs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677CB-73D2-218C-6EA9-24C1B89B5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79" y="5248655"/>
            <a:ext cx="7470648" cy="1230059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Summarizes the event data for the last 30 days, identifying the top 10 </a:t>
            </a:r>
            <a:r>
              <a:rPr lang="en-US" dirty="0" err="1"/>
              <a:t>EventIDs</a:t>
            </a:r>
            <a:r>
              <a:rPr lang="en-US" dirty="0"/>
              <a:t> based on their size (GB) and cost impact.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20E9F-2AB6-7266-9800-9C71D752B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89" r="46311"/>
          <a:stretch/>
        </p:blipFill>
        <p:spPr>
          <a:xfrm>
            <a:off x="7748833" y="1"/>
            <a:ext cx="444999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597749-0B34-B505-BA49-2B24A22409A4}"/>
              </a:ext>
            </a:extLst>
          </p:cNvPr>
          <p:cNvSpPr txBox="1"/>
          <p:nvPr/>
        </p:nvSpPr>
        <p:spPr>
          <a:xfrm>
            <a:off x="135227" y="1314615"/>
            <a:ext cx="756595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SecurityEvent</a:t>
            </a: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TimeGenerated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&gt;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ago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30d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800" dirty="0">
                <a:solidFill>
                  <a:schemeClr val="accent6"/>
                </a:solidFill>
                <a:latin typeface="Lucida Console" panose="020B0609040504020204" pitchFamily="49" charset="0"/>
              </a:rPr>
              <a:t>// Filter for the last 30 days</a:t>
            </a: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summarize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Count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count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()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SizeGB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round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sum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_</a:t>
            </a:r>
            <a:r>
              <a:rPr 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BilledSize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/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1024/1024/1024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by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EventID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chemeClr val="accent6"/>
                </a:solidFill>
                <a:latin typeface="Lucida Console" panose="020B0609040504020204" pitchFamily="49" charset="0"/>
              </a:rPr>
              <a:t>// Calculate event count and total size in GB for each </a:t>
            </a:r>
            <a:r>
              <a:rPr lang="en-US" sz="180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EventID</a:t>
            </a:r>
            <a:endParaRPr lang="en-US" sz="1800" dirty="0">
              <a:solidFill>
                <a:schemeClr val="accent6"/>
              </a:solidFill>
              <a:latin typeface="Lucida Console" panose="020B0609040504020204" pitchFamily="49" charset="0"/>
            </a:endParaRP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top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10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by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SizeGB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desc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Get top 10 </a:t>
            </a:r>
            <a:r>
              <a:rPr lang="en-US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EventIDs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 by size in descending order</a:t>
            </a: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project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['Event ID']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EventID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['Event Count']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Count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['Size (GB)']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SizeGB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['Estimated Cost ($)']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SizeGB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*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2.0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Project relevant columns, including estimated cost</a:t>
            </a:r>
          </a:p>
          <a:p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  <a:p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3786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C87D-5EBC-4FDB-E72A-B2AD9283E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34293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Table Volumes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54A47-81EC-5E66-2592-0CD647C99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234869"/>
            <a:ext cx="10850880" cy="9260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Summarizes the data ingestion volumes by table for the last 90 days, presenting the total GB and daily average per table.</a:t>
            </a:r>
          </a:p>
        </p:txBody>
      </p:sp>
      <p:pic>
        <p:nvPicPr>
          <p:cNvPr id="5" name="Picture 4" descr="The calendar on a table stacked on top of notebooks">
            <a:extLst>
              <a:ext uri="{FF2B5EF4-FFF2-40B4-BE49-F238E27FC236}">
                <a16:creationId xmlns:a16="http://schemas.microsoft.com/office/drawing/2014/main" id="{8D03FE75-F7DF-8813-B5D3-8646C32D49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30" r="12461" b="-2"/>
          <a:stretch/>
        </p:blipFill>
        <p:spPr>
          <a:xfrm>
            <a:off x="8375904" y="1"/>
            <a:ext cx="3822921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7F5984-EAEE-9FF9-F7E6-D3F8DA7FF8ED}"/>
              </a:ext>
            </a:extLst>
          </p:cNvPr>
          <p:cNvSpPr txBox="1"/>
          <p:nvPr/>
        </p:nvSpPr>
        <p:spPr>
          <a:xfrm>
            <a:off x="230124" y="1394148"/>
            <a:ext cx="80832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Usage</a:t>
            </a: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TimeGenerated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&gt;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ago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90d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800" dirty="0">
                <a:solidFill>
                  <a:schemeClr val="accent6"/>
                </a:solidFill>
                <a:latin typeface="Lucida Console" panose="020B0609040504020204" pitchFamily="49" charset="0"/>
              </a:rPr>
              <a:t>// Filter for the last 90 days</a:t>
            </a: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where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IsBillable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true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Include only billable data</a:t>
            </a: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summarize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TotalGB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round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sum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Quantity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/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1024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by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DataType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Summarize by data type, calculating total GB</a:t>
            </a: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order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by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TotalGB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desc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Order by total GB in descending order</a:t>
            </a:r>
          </a:p>
          <a:p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project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['Table Name']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DataType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['Total GB']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Lucida Console" panose="020B0609040504020204" pitchFamily="49" charset="0"/>
              </a:rPr>
              <a:t>TotalGB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['Daily Average GB']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Lucida Console" panose="020B0609040504020204" pitchFamily="49" charset="0"/>
              </a:rPr>
              <a:t>round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TotalGB</a:t>
            </a:r>
            <a:r>
              <a:rPr lang="en-US" sz="1800" dirty="0">
                <a:solidFill>
                  <a:srgbClr val="0000FF"/>
                </a:solidFill>
                <a:latin typeface="Lucida Console" panose="020B0609040504020204" pitchFamily="49" charset="0"/>
              </a:rPr>
              <a:t>/90</a:t>
            </a:r>
            <a:r>
              <a:rPr lang="en-US" sz="18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Lucida Console" panose="020B0609040504020204" pitchFamily="49" charset="0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) </a:t>
            </a:r>
            <a:r>
              <a:rPr lang="en-US" dirty="0">
                <a:solidFill>
                  <a:schemeClr val="accent6"/>
                </a:solidFill>
                <a:latin typeface="Lucida Console" panose="020B0609040504020204" pitchFamily="49" charset="0"/>
              </a:rPr>
              <a:t>// Project table name, total GB, and daily average GB</a:t>
            </a:r>
          </a:p>
          <a:p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7756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46773E-106E-C888-EB2F-26215A50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643" y="-10886"/>
            <a:ext cx="5334197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Tying It All Together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03ED7-068E-EF17-7E72-EFB9586BD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643" y="1581912"/>
            <a:ext cx="6306512" cy="466344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By leveraging these queries together in a single workbook, you can gain a comprehensive understanding of your Sentinel ingestion costs, identify areas for optimization, and improve cost management strategies.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You can download a working Gallery Template that combines all of the above queries here: </a:t>
            </a:r>
            <a:br>
              <a:rPr lang="en-US" sz="2000" dirty="0"/>
            </a:br>
            <a:br>
              <a:rPr lang="en-US" sz="2000" dirty="0"/>
            </a:br>
            <a:r>
              <a:rPr lang="en-US" sz="1700" dirty="0" err="1">
                <a:hlinkClick r:id="rId2"/>
              </a:rPr>
              <a:t>Sentinel_Cost_Optimization</a:t>
            </a:r>
            <a:r>
              <a:rPr lang="en-US" sz="1700" dirty="0">
                <a:hlinkClick r:id="rId2"/>
              </a:rPr>
              <a:t>/Cost Optimization Workbook Gallery Template V1.json at Main · EEN421/</a:t>
            </a:r>
            <a:r>
              <a:rPr lang="en-US" sz="1700" dirty="0" err="1">
                <a:hlinkClick r:id="rId2"/>
              </a:rPr>
              <a:t>Sentinel_Cost_Optimization</a:t>
            </a:r>
            <a:br>
              <a:rPr lang="en-US" sz="1700" dirty="0"/>
            </a:b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Take it a step further and integrate </a:t>
            </a:r>
            <a:r>
              <a:rPr lang="en-US" sz="2000" dirty="0" err="1"/>
              <a:t>PowerBi</a:t>
            </a:r>
            <a:r>
              <a:rPr lang="en-US" sz="2000" dirty="0"/>
              <a:t> for automated reporting at the click of a button here:</a:t>
            </a:r>
          </a:p>
          <a:p>
            <a:pPr marL="0" indent="0">
              <a:buNone/>
            </a:pPr>
            <a:r>
              <a:rPr lang="en-US" sz="1700" dirty="0"/>
              <a:t> </a:t>
            </a:r>
            <a:r>
              <a:rPr lang="en-US" sz="1700" dirty="0">
                <a:hlinkClick r:id="rId3"/>
              </a:rPr>
              <a:t>https://www.hanley.cloud/2024-01-19-PowerBI-&amp;-Log-Analytics-Workspace/</a:t>
            </a:r>
            <a:r>
              <a:rPr lang="en-US" sz="1700" dirty="0"/>
              <a:t> </a:t>
            </a:r>
            <a:endParaRPr lang="en-US" sz="2000" dirty="0"/>
          </a:p>
        </p:txBody>
      </p:sp>
      <p:pic>
        <p:nvPicPr>
          <p:cNvPr id="14" name="Picture 13" descr="Open book with pen on desk">
            <a:extLst>
              <a:ext uri="{FF2B5EF4-FFF2-40B4-BE49-F238E27FC236}">
                <a16:creationId xmlns:a16="http://schemas.microsoft.com/office/drawing/2014/main" id="{F9BB03DE-1E32-F9D6-AFC7-722ED407E7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815" r="16543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9578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1128</Words>
  <Application>Microsoft Office PowerPoint</Application>
  <PresentationFormat>Widescreen</PresentationFormat>
  <Paragraphs>88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Lucida Console</vt:lpstr>
      <vt:lpstr>Office Theme</vt:lpstr>
      <vt:lpstr>KQL Cafe: Sentinel Cost Optimization</vt:lpstr>
      <vt:lpstr>Importance of Ingest Cost Optimization Strategies</vt:lpstr>
      <vt:lpstr>Ingest Volume Query</vt:lpstr>
      <vt:lpstr>Cost Summary Query</vt:lpstr>
      <vt:lpstr>Volume Changes Query</vt:lpstr>
      <vt:lpstr>Top Sources Query</vt:lpstr>
      <vt:lpstr>Event Costs Query</vt:lpstr>
      <vt:lpstr>Table Volumes Query</vt:lpstr>
      <vt:lpstr>Tying It All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Hanley</dc:creator>
  <cp:lastModifiedBy>Ian Hanley</cp:lastModifiedBy>
  <cp:revision>1</cp:revision>
  <dcterms:created xsi:type="dcterms:W3CDTF">2025-01-28T03:05:14Z</dcterms:created>
  <dcterms:modified xsi:type="dcterms:W3CDTF">2025-01-28T03:36:55Z</dcterms:modified>
</cp:coreProperties>
</file>