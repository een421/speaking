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1" r:id="rId5"/>
    <p:sldId id="260" r:id="rId6"/>
    <p:sldId id="281" r:id="rId7"/>
    <p:sldId id="280" r:id="rId8"/>
    <p:sldId id="262" r:id="rId9"/>
    <p:sldId id="282" r:id="rId10"/>
    <p:sldId id="263" r:id="rId11"/>
    <p:sldId id="264" r:id="rId12"/>
    <p:sldId id="286" r:id="rId13"/>
    <p:sldId id="265" r:id="rId14"/>
    <p:sldId id="283" r:id="rId15"/>
    <p:sldId id="266" r:id="rId16"/>
    <p:sldId id="284" r:id="rId17"/>
    <p:sldId id="267" r:id="rId18"/>
    <p:sldId id="268" r:id="rId19"/>
    <p:sldId id="269" r:id="rId20"/>
    <p:sldId id="285" r:id="rId21"/>
    <p:sldId id="270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7"/>
    <p:restoredTop sz="89294"/>
  </p:normalViewPr>
  <p:slideViewPr>
    <p:cSldViewPr snapToGrid="0" snapToObjects="1">
      <p:cViewPr varScale="1">
        <p:scale>
          <a:sx n="101" d="100"/>
          <a:sy n="101" d="100"/>
        </p:scale>
        <p:origin x="232" y="2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84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time I came on KQL Café, I showed you KQL I was proud of.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naturally, this time I brought KQL that's wrong.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annoying part is that most of it runs perfectly.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syntax errors, No red squiggles, No complaints from Kusto… It returns exactly what I asked for.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that's the problem.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over the last few months I've been doing something slightly ridiculous.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DevSecOpsDadAttack: threat intel to behaviors to hypotheses to KQL candidates to human review. KQL Detection of the Week was born because the machine needed a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rant. Zero rows might mean no activity, but might also mean the wrong query, missing telemetry, sparse field, endpoint not reporting, parser change, or your own filter eliminating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Scenic-route rant. SIEM, Defender, and Sentinel are not reality. They are representations after sensor, collection, ingestion, parsing, and retention. Also: the attacker gets a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9500-CF94-2698-66A2-E63803B0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A81E9-6012-0FF0-88C0-DBA4B96BF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C26F-18A2-6BF2-6305-C4E24B7FA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C5CAC-39CF-EF3D-C535-3DD27D9089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4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36B9-BB5C-1004-167A-727C2EBF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D6457-0D83-A8E4-6951-0E3371299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AC2F8-49F7-D062-3DD4-E1EA081CE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462F4-2584-E23D-727B-C5982D0F9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27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schema is not the same as populated telemetry. Run population checks before interpreting zero results or claiming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4C14-DD65-9E49-FE89-C4DF3778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7DA53-08E0-90BB-08D3-B462448EF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CDCC0-E566-8A9C-4C80-E343A823F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CEBB-040B-D826-CB5D-F64CC30F1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95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positives hurt, but false confidence is dangerous. A 60-day no-fire review is a trigger for revalidation, not a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Calendar C2 as a fun example. The lesson is not just calendar detections; it is that your mental model controls where you look. Attackers do not care what table you think C2 belongs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A83B-D332-5627-7B23-BB298126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D3F4-84BB-3EF8-5078-3589134DB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C110B-B790-08A2-F6AD-75F2A57E3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C2660-03B9-0CEE-A118-B079AB9D0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35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 matters: IPs, domains, URLs, paths, hashes, Unicode, casing, and escaping. Detect meaning, not just spelling.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3A5C-8712-BDC2-1DB7-4F9824B3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F478D-C666-4205-AD58-69BD73F19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2072A-398F-907A-4CCC-5897754D3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1E551-A800-C8AB-6D8A-980E3E03A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10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suspicious character is not the whole story; decode and interpret what it represents.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3480-1791-161A-004B-8DED7F4B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9B13F-2842-A55E-C0C3-804BC4D09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17732-4137-3725-7B39-6BF81319A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937BA-0167-0ACD-8A7A-326977D72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81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 gives the previous row, not the previous event for the same device/user/process. Serialize is not enough; guard the entity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Kusto will happily join two rows. You are accusing them of being related. Same IP, user, or time window may not be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npm lifecycle example. A parent-child query can miss grandchild behavior. The KQL can compile, the processes can be real, and the analytic can still misunderstand the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E3782-F09A-7041-76FC-49314D5F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E5D14-548B-D59C-0267-D82B54D2A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EE9B2-FD82-33C8-D75C-E4B2262F2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leftanti. Kusto is doing exactly what you asked: no matching rows on the right with these join keys and this time window. You own the interpretation.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89CAF-A1B6-F6FF-37A9-C9CED8E44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8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make_set gives membership, not chronology. If order matters, establish ordering deliberately. Summarize is often useful but it destroys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up the stack: observation, collection, population, representation, identity, relationship, claim. A perfect query against a bad premise is still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did not invent bad assumptions. It changed scale. The scary outputs are plausible detections that survive casual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automated pipeline briefly. AI helps read, cluster, draft, and critique. The review process is where assumptions are 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in the loop has to mean meaningful skepticism. The human should not redo all AI work, but should own assumptions, edge cases, claims, and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can criticize AI, but the environment resolves factual assumptions. Review should recur when models, prompts, sources, telemetry, or time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review method: start with what the detection claims and walk backwards through the trust stack. The key question catches representation, sensor, field, relationship, and chain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near the close. These apply to human-written KQL, AI-generated detections, automated triage, threat-intelligence summaries, and executive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recapping: leftanti is absence from a right-hand dataset, prev knows rows not entities, make_set is membership not chronology, joins are relationship claims. Automation makes assumption management more important, not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secopsdadattack.com/2026-07-20-KQL-Detection-of-the-Week_-The-Dog-That-Didn't-Bark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secopsdadattack.com/2026-08-24-KQL-Detection-of-the-Week-The-Field-That-Wasnt-Ther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secopsdadattack.com/2026-07-27-KQL-Detection-of-the-Week_-A-Meeting-in-2050-(Detecting-Project-CAV3RN's-Outlook-Calendar-C2-and-DNS-AAAA-Recovery-Channel)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secopsdadattack.com/2026-09-01-KQL-Detection-of-the-Week-The-String-Is-Not-The-Thin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secopsdadattack.com/2026-09-08-KQL-Detection-of-the-Week-The-Character-Is-Not-The-Payload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hanley.cloud/2026-04-28-From-RSS-Noise-to-CISO-Signal-Automating-Cyber-Threat-Intelligence-That-Actually-Matters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ley.cloud/2026-08-17-AI-Sovereignty-on-a-Raspberry-Pi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ark_sci_fi_abstract_scene_a_s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F">
              <a:alpha val="75000"/>
            </a:srgbClr>
          </a:solidFill>
          <a:ln w="12700">
            <a:solidFill>
              <a:srgbClr val="050A0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94360" y="98755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Query Ran Successfully.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94360" y="171907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5E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That’s the Problem.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21792" y="26700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7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security engineers have to think differently about KQL, telemetry, detection logic, and AI-generated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" y="5989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C2"/>
                </a:solidFill>
              </a:rPr>
              <a:t>Ian Hanley • KQL Café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sci_fi_cyber_tech_control_room_scen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F">
              <a:alpha val="55000"/>
            </a:srgbClr>
          </a:solidFill>
          <a:ln w="12700">
            <a:solidFill>
              <a:srgbClr val="050A0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TOPIC NOW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4980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built a machine that writes detections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21792" y="1920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made human review more important — not less.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416052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THREAT INTEL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50008" y="416052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BEHAVIORS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014216" y="416052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HYPOTHESES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78424" y="4160520"/>
            <a:ext cx="15544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KQL CANDIDATES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42632" y="4160520"/>
            <a:ext cx="1325880" cy="384048"/>
          </a:xfrm>
          <a:prstGeom prst="rect">
            <a:avLst/>
          </a:prstGeom>
          <a:solidFill>
            <a:srgbClr val="2A0908"/>
          </a:solidFill>
          <a:ln w="12700">
            <a:solidFill>
              <a:srgbClr val="FF3B30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1AB"/>
                </a:solidFill>
              </a:rPr>
              <a:t>HUMAN REVIEW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3232" y="49834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~30 detection candidates / week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31520" y="54864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7B3C2"/>
                </a:solidFill>
              </a:rPr>
              <a:t>Scale is useful. Scale also multiplies whatever mistakes survive your controls.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ROWS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“Nothing happened.”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B3C2"/>
                </a:solidFill>
              </a:rPr>
              <a:t>That is not what Kusto told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9966960" cy="1115568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31089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3F7FF"/>
                </a:solidFill>
              </a:rPr>
              <a:t>“I found zero rows matching these predicates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3F7FF"/>
                </a:solidFill>
              </a:rPr>
              <a:t>in the data you gave me.”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96112" y="48920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C8FF"/>
                </a:solidFill>
              </a:rPr>
              <a:t>Zero rows is not an answer. It is a clue.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tech_sci_fi_infographic_style_digit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F">
              <a:alpha val="62000"/>
            </a:srgbClr>
          </a:solidFill>
          <a:ln w="12700">
            <a:solidFill>
              <a:srgbClr val="050A0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SCENIC ROUTE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498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database is not reality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21792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investigate what survived ingestion.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5166360"/>
            <a:ext cx="123444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Sensor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04288" y="5166360"/>
            <a:ext cx="123444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Collection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77056" y="5166360"/>
            <a:ext cx="123444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Transport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49824" y="5166360"/>
            <a:ext cx="1234440" cy="384048"/>
          </a:xfrm>
          <a:prstGeom prst="rect">
            <a:avLst/>
          </a:prstGeom>
          <a:solidFill>
            <a:srgbClr val="20130A"/>
          </a:solidFill>
          <a:ln w="12700">
            <a:solidFill>
              <a:srgbClr val="FF3B30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Parsing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022592" y="5166360"/>
            <a:ext cx="123444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Retention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95360" y="5166360"/>
            <a:ext cx="123444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Query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MOMENT: LEFTANTI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leftanti: </a:t>
            </a: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/>
              </a:rPr>
              <a:t>the dog that didn’t bark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600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7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absence — dangerous when absence becomes certainty.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2423160"/>
            <a:ext cx="5715000" cy="269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B30"/>
                </a:solidFill>
              </a:rPr>
              <a:t>Teachable warning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88036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3F7FF"/>
                </a:solidFill>
              </a:rPr>
              <a:t>leftanti tells you what is absent from the right-hand dataset.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F3F7FF"/>
                </a:solidFill>
              </a:rPr>
              <a:t>It does not tell you what is absent from reality.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931152" y="5074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3C2"/>
                </a:solidFill>
              </a:rPr>
              <a:t>Check completeness, join keys, time windows, and ingestion latency.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19AD8-0094-91D3-8920-BF79AE5D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48E1AD-4952-E5E3-A263-1AC7298AAD25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D7E140-3BC9-4D53-F8AB-CEDCA65BAF54}"/>
              </a:ext>
            </a:extLst>
          </p:cNvPr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MOMENT: LEFTANTI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831B88-3BD8-A020-34FC-B6D3FB4B7E04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465DDBD-1FFA-6E2A-3A2F-672829BE1DDF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5" name="Picture 4" descr="Act I">
            <a:extLst>
              <a:ext uri="{FF2B5EF4-FFF2-40B4-BE49-F238E27FC236}">
                <a16:creationId xmlns:a16="http://schemas.microsoft.com/office/drawing/2014/main" id="{FA65DDDF-BB2C-24C1-1AB7-9FBB2631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62" y="530351"/>
            <a:ext cx="8465446" cy="564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1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1C99F-B7B8-FF23-5BD5-C8E092EA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EF6F0D-1DA0-811C-326A-4C403C46C58E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83CDB2-6978-CC57-C108-DA6327BE91FA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43EDF83-FD16-F74E-021F-B0CB0CB5E6A4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12" name="Picture 11" descr="Left-Anti">
            <a:extLst>
              <a:ext uri="{FF2B5EF4-FFF2-40B4-BE49-F238E27FC236}">
                <a16:creationId xmlns:a16="http://schemas.microsoft.com/office/drawing/2014/main" id="{72841D29-4786-149D-4A1F-3FA30A1E0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645" y="104985"/>
            <a:ext cx="9259605" cy="617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FIRST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/>
              </a:rPr>
              <a:t>The field that wasn’t there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availability ≠ telemetry availability.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331720"/>
            <a:ext cx="5943600" cy="2103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2304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EC8FF"/>
                </a:solidFill>
              </a:rPr>
              <a:t>Validate first. Detect second.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269480" y="3063240"/>
            <a:ext cx="40233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field populated?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 which devices?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By which OS / sensor version?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coverage good enough to support the claim?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15F42-A9C1-C445-7781-AA6419BB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CDF0B9-7323-A294-10A7-7087F27AC432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1DEC9B-8598-3C1E-3935-005C5C37C022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6386D80-B9CC-443A-5113-286E625F8481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5" name="Picture 4" descr="The Field that Wasn't There!">
            <a:extLst>
              <a:ext uri="{FF2B5EF4-FFF2-40B4-BE49-F238E27FC236}">
                <a16:creationId xmlns:a16="http://schemas.microsoft.com/office/drawing/2014/main" id="{8D4EBC67-CFC2-CB6B-84D1-6B29AC58E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57" y="256033"/>
            <a:ext cx="10686843" cy="601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04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DECAY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False positives are annoying. False confidence is dangerous.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800600" cy="210312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C8FF"/>
                </a:solidFill>
              </a:rPr>
              <a:t>Noisy detection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0704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</a:rPr>
              <a:t>Gets investigated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</a:rPr>
              <a:t>Gets tuned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</a:rPr>
              <a:t>Creates visible pain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4800600" cy="2103120"/>
          </a:xfrm>
          <a:prstGeom prst="roundRect">
            <a:avLst/>
          </a:prstGeom>
          <a:solidFill>
            <a:srgbClr val="180A0A"/>
          </a:solidFill>
          <a:ln w="12700">
            <a:solidFill>
              <a:srgbClr val="FF3B30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1AB"/>
                </a:solidFill>
              </a:rPr>
              <a:t>Quiet broken detection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29984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</a:rPr>
              <a:t>Gets trusted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</a:rPr>
              <a:t>Claims coverage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</a:rPr>
              <a:t>Silently decays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F7FF"/>
                </a:solidFill>
              </a:rPr>
              <a:t>A quiet broken detection gets trusted.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SENSOR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/>
              </a:rPr>
              <a:t>A meeting in 2050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the telemetry exists — just not where your mental model expected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2743200" cy="150876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24128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7FF"/>
                </a:solidFill>
              </a:rPr>
              <a:t>Calendar object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3F7FF"/>
                </a:solidFill>
              </a:rPr>
              <a:t>Year: 2050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3F7FF"/>
                </a:solidFill>
              </a:rPr>
              <a:t>Attendees: none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617720" y="2651760"/>
            <a:ext cx="2743200" cy="150876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18888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7FF"/>
                </a:solidFill>
              </a:rPr>
              <a:t>Attach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3F7FF"/>
                </a:solidFill>
              </a:rPr>
              <a:t>Rename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3F7FF"/>
                </a:solidFill>
              </a:rPr>
              <a:t>Retrieve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0" y="2651760"/>
            <a:ext cx="2743200" cy="1508760"/>
          </a:xfrm>
          <a:prstGeom prst="roundRect">
            <a:avLst/>
          </a:prstGeom>
          <a:solidFill>
            <a:srgbClr val="180A0A"/>
          </a:solidFill>
          <a:ln w="12700">
            <a:solidFill>
              <a:srgbClr val="FF3B30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613648" y="3063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B1AB"/>
                </a:solidFill>
              </a:rPr>
              <a:t>Calendar C2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B1AB"/>
                </a:solidFill>
              </a:rPr>
              <a:t>not network C2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8620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5EC8FF"/>
                </a:solidFill>
              </a:rPr>
              <a:t>→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8096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5EC8FF"/>
                </a:solidFill>
              </a:rPr>
              <a:t>→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051560" y="51663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5EC8FF"/>
                </a:solidFill>
              </a:rPr>
              <a:t>ATT&amp;CK is a map. It is not the terrain.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E7DA6-0145-060F-44BE-88B9317F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09D907-2F2B-689A-D0E3-C68F17B2478E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87C44D-A0F9-BF07-F9E4-02476965428E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A242F7D-A78C-510C-FEC4-B88BF24FD07E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3" name="Picture 2" descr="Act I">
            <a:extLst>
              <a:ext uri="{FF2B5EF4-FFF2-40B4-BE49-F238E27FC236}">
                <a16:creationId xmlns:a16="http://schemas.microsoft.com/office/drawing/2014/main" id="{FB0EB736-6EE7-973F-AFF4-AF1CD658C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5115"/>
            <a:ext cx="10698480" cy="602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4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/>
              </a:rPr>
              <a:t>The string is not the thing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meaning, not spelling.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331720"/>
            <a:ext cx="5760720" cy="2331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95160" y="24231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169.254.169.254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753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3B30"/>
                </a:solidFill>
              </a:rPr>
              <a:t>≠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50608" y="36576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F7FF"/>
                </a:solidFill>
              </a:rPr>
              <a:t>one spelling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3F7FF"/>
                </a:solidFill>
              </a:rPr>
              <a:t>of the destination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7724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7B3C2"/>
                </a:solidFill>
              </a:rPr>
              <a:t>Coverage is a claim, not a property.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A29E6-0B50-882B-8FA8-3D610A34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0398C0-1B9D-10DB-A117-0CD8351E89AB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33798E-39FF-38E5-845D-8E64D1044EB2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80823A-1B93-1380-7662-CE8A7A3126D7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6" name="Picture 5" descr="Act II">
            <a:extLst>
              <a:ext uri="{FF2B5EF4-FFF2-40B4-BE49-F238E27FC236}">
                <a16:creationId xmlns:a16="http://schemas.microsoft.com/office/drawing/2014/main" id="{92F8569B-EA9A-3759-B076-8070B23F8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05" y="256032"/>
            <a:ext cx="10690696" cy="601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20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/>
              </a:rPr>
              <a:t>The character is not the payload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7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Unicode tag characters can be signal — but the payload is the decoded meaning.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331720"/>
            <a:ext cx="6400800" cy="2487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C8FF"/>
                </a:solidFill>
              </a:rPr>
              <a:t>Representation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05088" y="3154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A7B3C2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63524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1AB"/>
                </a:solidFill>
              </a:rPr>
              <a:t>Meaning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8DFA0-6555-A056-CCF8-736B14F2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B5B2A3-DE80-01BA-BCE3-352246917F30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D363AE-41CA-14BC-DF52-BCD296D78898}"/>
              </a:ext>
            </a:extLst>
          </p:cNvPr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MOMENT: LEFTANTI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2A5D48-98B5-0FDB-E471-F65CB944B185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60B5B6F-B77A-E853-071F-41210750540F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5" name="Picture 4" descr="DevSecOpsDadAttack!">
            <a:extLst>
              <a:ext uri="{FF2B5EF4-FFF2-40B4-BE49-F238E27FC236}">
                <a16:creationId xmlns:a16="http://schemas.microsoft.com/office/drawing/2014/main" id="{48FF2CC4-DEA0-4F97-60DA-09C18A8B0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344" y="576071"/>
            <a:ext cx="10002056" cy="56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43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MOMENT: PREV()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prev() knows rows. You know entities.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874520"/>
            <a:ext cx="5257800" cy="1783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3977640"/>
            <a:ext cx="5257800" cy="19385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08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Machine 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4124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Machine B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8298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Machine C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31520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B1AB"/>
                </a:solidFill>
              </a:rPr>
              <a:t>fictional sequence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MOMENT: JOIN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join is an accusation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join key is the evidence.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96" y="2286000"/>
            <a:ext cx="42976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EC8FF"/>
                </a:solidFill>
              </a:rPr>
              <a:t>What relationship does this prove?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806440" y="2788920"/>
            <a:ext cx="44805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identity?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session?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host?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causal chain?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five-minute window?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F7FF"/>
                </a:solidFill>
              </a:rPr>
              <a:t>Temporal proximity is not causality.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 does not equal lineage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care about ancestry, model ancestry.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3154680"/>
            <a:ext cx="822960" cy="0"/>
          </a:xfrm>
          <a:prstGeom prst="line">
            <a:avLst/>
          </a:prstGeom>
          <a:noFill/>
          <a:ln w="2540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840480" y="3154680"/>
            <a:ext cx="822960" cy="0"/>
          </a:xfrm>
          <a:prstGeom prst="line">
            <a:avLst/>
          </a:prstGeom>
          <a:noFill/>
          <a:ln w="2540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760720" y="3154680"/>
            <a:ext cx="822960" cy="0"/>
          </a:xfrm>
          <a:prstGeom prst="line">
            <a:avLst/>
          </a:prstGeom>
          <a:noFill/>
          <a:ln w="2540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680960" y="3154680"/>
            <a:ext cx="822960" cy="0"/>
          </a:xfrm>
          <a:prstGeom prst="line">
            <a:avLst/>
          </a:prstGeom>
          <a:noFill/>
          <a:ln w="2540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1234440" cy="82296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2990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npm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0" y="2743200"/>
            <a:ext cx="1234440" cy="82296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43200" y="2990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node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1234440" cy="82296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63440" y="2990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sh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1234440" cy="82296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0" y="2990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python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503920" y="2743200"/>
            <a:ext cx="1234440" cy="822960"/>
          </a:xfrm>
          <a:prstGeom prst="roundRect">
            <a:avLst/>
          </a:prstGeom>
          <a:solidFill>
            <a:srgbClr val="180A0A"/>
          </a:solidFill>
          <a:ln w="12700">
            <a:solidFill>
              <a:srgbClr val="FF3B30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03920" y="2990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F"/>
                </a:solidFill>
              </a:rPr>
              <a:t>curl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46634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5EC8FF"/>
                </a:solidFill>
              </a:rPr>
              <a:t>The malicious relationship may be several generations away.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0A907-DFEA-B8C6-55FA-A889F319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94D21-8BA8-2FB7-9D42-0A9A0041BB81}"/>
              </a:ext>
            </a:extLst>
          </p:cNvPr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4C053C-59E5-70A9-A05A-024DB4D36FAA}"/>
              </a:ext>
            </a:extLst>
          </p:cNvPr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EC992FA-CFB0-FC3C-2EBE-558350684FC2}"/>
              </a:ext>
            </a:extLst>
          </p:cNvPr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  <p:pic>
        <p:nvPicPr>
          <p:cNvPr id="6" name="Picture 5" descr="Act I">
            <a:extLst>
              <a:ext uri="{FF2B5EF4-FFF2-40B4-BE49-F238E27FC236}">
                <a16:creationId xmlns:a16="http://schemas.microsoft.com/office/drawing/2014/main" id="{56DBF975-6CD0-F2FD-308C-8D420386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3" y="256032"/>
            <a:ext cx="10625778" cy="598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0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MOMENT: AGGREGATION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make_set() is not a timeline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summarize is lossy compression.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331720"/>
            <a:ext cx="6126480" cy="2542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5EC8FF"/>
                </a:solidFill>
              </a:rPr>
              <a:t>Membership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68680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B30"/>
                </a:solidFill>
              </a:rPr>
              <a:t>≠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40664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3F7FF"/>
                </a:solidFill>
              </a:rPr>
              <a:t>Chronology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68680" y="5532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7B3C2"/>
                </a:solidFill>
              </a:rPr>
              <a:t>A query can contain all the right events and still tell the wrong story.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trust is a stack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234440" y="1783080"/>
            <a:ext cx="7498080" cy="402336"/>
          </a:xfrm>
          <a:prstGeom prst="roundRect">
            <a:avLst/>
          </a:prstGeom>
          <a:solidFill>
            <a:srgbClr val="FF3B30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34440" y="1883664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Claim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2313432"/>
            <a:ext cx="7040880" cy="402336"/>
          </a:xfrm>
          <a:prstGeom prst="roundRect">
            <a:avLst/>
          </a:prstGeom>
          <a:solidFill>
            <a:srgbClr val="00A3FF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463040" y="2414016"/>
            <a:ext cx="7040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Relationship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91640" y="2843784"/>
            <a:ext cx="6583680" cy="402336"/>
          </a:xfrm>
          <a:prstGeom prst="roundRect">
            <a:avLst/>
          </a:prstGeom>
          <a:solidFill>
            <a:srgbClr val="00A3FF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691640" y="294436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Identity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920240" y="3374136"/>
            <a:ext cx="6126480" cy="402336"/>
          </a:xfrm>
          <a:prstGeom prst="roundRect">
            <a:avLst/>
          </a:prstGeom>
          <a:solidFill>
            <a:srgbClr val="12324B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920240" y="3474720"/>
            <a:ext cx="6126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Representation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48840" y="3904488"/>
            <a:ext cx="5669280" cy="402336"/>
          </a:xfrm>
          <a:prstGeom prst="roundRect">
            <a:avLst/>
          </a:prstGeom>
          <a:solidFill>
            <a:srgbClr val="12324B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148840" y="400507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Population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77440" y="4434840"/>
            <a:ext cx="5212080" cy="402336"/>
          </a:xfrm>
          <a:prstGeom prst="roundRect">
            <a:avLst/>
          </a:prstGeom>
          <a:solidFill>
            <a:srgbClr val="12324B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377440" y="4535424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Collection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06040" y="4965192"/>
            <a:ext cx="4754880" cy="402336"/>
          </a:xfrm>
          <a:prstGeom prst="roundRect">
            <a:avLst/>
          </a:prstGeom>
          <a:solidFill>
            <a:srgbClr val="12324B"/>
          </a:solidFill>
          <a:ln w="12700">
            <a:solidFill>
              <a:srgbClr val="00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06040" y="5065776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7FF"/>
                </a:solidFill>
              </a:rPr>
              <a:t>Observation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58064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F7FF"/>
                </a:solidFill>
              </a:rPr>
              <a:t>The engine cannot save you from a bad premise.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sci_fi_cyber_tech_control_room_scen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F">
              <a:alpha val="52000"/>
            </a:srgbClr>
          </a:solidFill>
          <a:ln w="12700">
            <a:solidFill>
              <a:srgbClr val="050A0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AUTOMATION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4980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4"/>
              </a:rPr>
              <a:t>Now give the bad premise a GPU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21792" y="1645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does not remove assumptions. It industrializes them.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77240" y="4114800"/>
            <a:ext cx="4754880" cy="1234440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5156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EC8FF"/>
                </a:solidFill>
              </a:rPr>
              <a:t>Obviously wrong is cheap.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92240" y="4114800"/>
            <a:ext cx="4754880" cy="1234440"/>
          </a:xfrm>
          <a:prstGeom prst="roundRect">
            <a:avLst/>
          </a:prstGeom>
          <a:solidFill>
            <a:srgbClr val="180A0A"/>
          </a:solidFill>
          <a:ln w="12700">
            <a:solidFill>
              <a:srgbClr val="FF3B30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76656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B1AB"/>
                </a:solidFill>
              </a:rPr>
              <a:t>Plausibly wrong is expensive.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tech_sci_fi_infographic_style_digit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F">
              <a:alpha val="55000"/>
            </a:srgbClr>
          </a:solidFill>
          <a:ln w="12700">
            <a:solidFill>
              <a:srgbClr val="050A0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DEVSECOPSDADATTACK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4980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machine handles scale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21792" y="15727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retains judgment and accountability.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452628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Read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39112" y="4718304"/>
            <a:ext cx="47548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514600" y="452628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Cluster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67912" y="4718304"/>
            <a:ext cx="47548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343400" y="452628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Extract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96712" y="4718304"/>
            <a:ext cx="47548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172200" y="452628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Draft KQL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525512" y="4718304"/>
            <a:ext cx="47548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001000" y="4526280"/>
            <a:ext cx="1325880" cy="384048"/>
          </a:xfrm>
          <a:prstGeom prst="rect">
            <a:avLst/>
          </a:prstGeom>
          <a:solidFill>
            <a:srgbClr val="071B2C"/>
          </a:solidFill>
          <a:ln w="12700">
            <a:solidFill>
              <a:srgbClr val="00A3FF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C8FF"/>
                </a:solidFill>
              </a:rPr>
              <a:t>Critique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354312" y="4718304"/>
            <a:ext cx="47548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9829800" y="4526280"/>
            <a:ext cx="1325880" cy="384048"/>
          </a:xfrm>
          <a:prstGeom prst="rect">
            <a:avLst/>
          </a:prstGeom>
          <a:solidFill>
            <a:srgbClr val="2A0908"/>
          </a:solidFill>
          <a:ln w="12700">
            <a:solidFill>
              <a:srgbClr val="FF3B30">
                <a:alpha val="8000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1AB"/>
                </a:solidFill>
              </a:rPr>
              <a:t>Review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9808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B3C2"/>
                </a:solidFill>
              </a:rPr>
              <a:t>KQL Detection of the Week exists because the machine needed a reviewer.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 THE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 ≠ human rubber stamp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checkbox is not governance.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56692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behavior are we detecting?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telemetry sources are required?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fields must be populated?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relationships are being inferred?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claim is this output making?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0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C8FF"/>
                </a:solidFill>
              </a:rPr>
              <a:t>Assumption ownership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B3C2"/>
                </a:solidFill>
              </a:rPr>
              <a:t>not ceremonial approval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/>
              </a:rPr>
              <a:t>AI can challenge. Reality resolves.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331720"/>
            <a:ext cx="525780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C8FF"/>
                </a:solidFill>
              </a:rPr>
              <a:t>Then touch reality: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29400" y="2971800"/>
            <a:ext cx="41148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the query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Inspect actual telemetry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 field population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the sensor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the entity boundary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5486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7FF"/>
                </a:solidFill>
              </a:rPr>
              <a:t>Review is a cadence, not a gate.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METHOD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detection backwards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conclusion, then walk toward the sensor.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1005840" cy="694944"/>
          </a:xfrm>
          <a:prstGeom prst="roundRect">
            <a:avLst/>
          </a:prstGeom>
          <a:solidFill>
            <a:srgbClr val="180A0A"/>
          </a:solidFill>
          <a:ln w="12700">
            <a:solidFill>
              <a:srgbClr val="FF3B30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13816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Claim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01368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176272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12848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75304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11880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Relationship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99432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974336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010912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Identity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98464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73368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Representation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97496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772400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808976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Population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96528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171432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208008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Collection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195560" y="3182112"/>
            <a:ext cx="347472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0570464" y="2834640"/>
            <a:ext cx="1005840" cy="694944"/>
          </a:xfrm>
          <a:prstGeom prst="roundRect">
            <a:avLst/>
          </a:prstGeom>
          <a:solidFill>
            <a:srgbClr val="07121D"/>
          </a:solidFill>
          <a:ln w="12700">
            <a:solidFill>
              <a:srgbClr val="00A3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607040" y="30723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F7FF"/>
                </a:solidFill>
              </a:rPr>
              <a:t>Sensor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B30"/>
                </a:solidFill>
              </a:rPr>
              <a:t>The nastiest question: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3F7FF"/>
                </a:solidFill>
              </a:rPr>
              <a:t>What would make this return zero even if the attack happened?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256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questions to steal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Does the telemetry I depend on actually exist?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 I detecting the behavior, or one representation of it?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 the events I’m correlating actually the same entity?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assumptions could silently turn a real attack into zero results?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cheapest change an attacker could make to evade this?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this system claiming — and who reviewed the evidence?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0"/>
                </a:solidFill>
              </a:rPr>
              <a:t>KQL Café • Ian Hanley • DevSecOpsDad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ark_sci_fi_abstract_scene_a_s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F">
              <a:alpha val="65000"/>
            </a:srgbClr>
          </a:solidFill>
          <a:ln w="12700">
            <a:solidFill>
              <a:srgbClr val="050A0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00A3FF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query ran successfully.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85800" y="19202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5E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That’s the problem.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713232" y="39776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3F7FF"/>
                </a:solidFill>
              </a:rPr>
              <a:t>Use AI. Automate aggressively.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3F7FF"/>
                </a:solidFill>
              </a:rPr>
              <a:t>But review the output, review the assumptions, and keep a human accountable for the claim.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5852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B3C2"/>
                </a:solidFill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2010</Words>
  <Application>Microsoft Macintosh PowerPoint</Application>
  <PresentationFormat>Widescreen</PresentationFormat>
  <Paragraphs>306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DevSecOpsDad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KQL Café - The Query Ran Successfully. That’s the Problem.</dc:title>
  <dc:subject>KQL Café - The Query Ran Successfully. That’s the Problem.</dc:subject>
  <dc:creator>Ian Hanley</dc:creator>
  <cp:lastModifiedBy>Ian Hanley</cp:lastModifiedBy>
  <cp:revision>5</cp:revision>
  <dcterms:created xsi:type="dcterms:W3CDTF">2026-09-28T20:14:23Z</dcterms:created>
  <dcterms:modified xsi:type="dcterms:W3CDTF">2026-09-29T14:43:19Z</dcterms:modified>
</cp:coreProperties>
</file>